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Presento una propuesta de alcance, no un producto terminado. La primera parte ya está funcionando; lo que traigo es cómo extenderla y qué necesito para hacerlo. Voy a ser explícito con qué existe hoy y qué es propuesta.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punto de partida. No es un problema de falta de datos: los datos están. El costo está en juntarlos, cruzarlos y dejar registrado por qué concluimos lo que concluimos.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Quiero que quede clara la línea entre lo que ya corre y lo que es propuesta. El agente de drops está operativo. El coordinador está probado con datos sembrados. Cobertura es diseño.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pieza que agrega valor no es el modelo: es el cruce. Un módulo solo te da una señal; dos módulos independientes apuntando a la misma celda por razones compatibles ya es un diagnóstico.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importante para la aprobación: dos de los tres dominios no tocan nada. El único con capacidad de cambio es PCI, y ahí ya tenemos una herramienta con su auditoría.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punto que suele preguntarse primero: qué pasa si el modelo se equivoca. La respuesta es que el modelo no decide la causa. Interpreta la pregunta y redacta; la causa sale de una regla que podemos auditar.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reglas son el criterio que hoy aplicamos a mano, puesto por escrito. No son inferencia causal: son los playbooks del área. Se revisan y se ajustan con los casos reales.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caso es real en la parte de drops y PCI; la respuesta de cobertura hoy sería simulada. El tiempo de este recorrido pasa de horas a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lámina es la que responde la pregunta de riesgo. El alcance de la primera etapa es diagnóstico, no ejecución. Lo que se automatiza es el cruce de información, no el cambio en la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Pido aprobación para B y C. D depende de una decisión que no es mía. E requiere que antes acordemos el proceso de cambio.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los presento como resueltos, sino como identificados y con una respuesta concreta. El riesgo de negocio real es bajo porque la primera etapa no ejecuta cambios.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lo que pido no es presupuesto de infraestructura, son accesos y una definición. El trabajo de desarrollo lo absorbo yo dentro del área.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783080" cy="155448"/>
          </a:xfrm>
          <a:prstGeom prst="rect">
            <a:avLst/>
          </a:prstGeom>
          <a:solidFill>
            <a:srgbClr val="A8C93B"/>
          </a:solidFill>
          <a:ln w="12700">
            <a:solidFill>
              <a:srgbClr val="A8C93B"/>
            </a:solidFill>
            <a:prstDash val="solid"/>
          </a:ln>
        </p:spPr>
      </p:sp>
      <p:sp>
        <p:nvSpPr>
          <p:cNvPr id="3" name="Shape 1"/>
          <p:cNvSpPr/>
          <p:nvPr/>
        </p:nvSpPr>
        <p:spPr>
          <a:xfrm>
            <a:off x="1783080" y="0"/>
            <a:ext cx="2752344" cy="155448"/>
          </a:xfrm>
          <a:prstGeom prst="rect">
            <a:avLst/>
          </a:prstGeom>
          <a:solidFill>
            <a:srgbClr val="E77B26"/>
          </a:solidFill>
          <a:ln w="12700">
            <a:solidFill>
              <a:srgbClr val="E77B26"/>
            </a:solidFill>
            <a:prstDash val="solid"/>
          </a:ln>
        </p:spPr>
      </p:sp>
      <p:sp>
        <p:nvSpPr>
          <p:cNvPr id="4" name="Shape 2"/>
          <p:cNvSpPr/>
          <p:nvPr/>
        </p:nvSpPr>
        <p:spPr>
          <a:xfrm>
            <a:off x="4535424" y="0"/>
            <a:ext cx="2734056" cy="155448"/>
          </a:xfrm>
          <a:prstGeom prst="rect">
            <a:avLst/>
          </a:prstGeom>
          <a:solidFill>
            <a:srgbClr val="F2A81D"/>
          </a:solidFill>
          <a:ln w="12700">
            <a:solidFill>
              <a:srgbClr val="F2A81D"/>
            </a:solidFill>
            <a:prstDash val="solid"/>
          </a:ln>
        </p:spPr>
      </p:sp>
      <p:sp>
        <p:nvSpPr>
          <p:cNvPr id="5" name="Shape 3"/>
          <p:cNvSpPr/>
          <p:nvPr/>
        </p:nvSpPr>
        <p:spPr>
          <a:xfrm>
            <a:off x="7269480" y="0"/>
            <a:ext cx="2734056" cy="155448"/>
          </a:xfrm>
          <a:prstGeom prst="rect">
            <a:avLst/>
          </a:prstGeom>
          <a:solidFill>
            <a:srgbClr val="E23A26"/>
          </a:solidFill>
          <a:ln w="12700">
            <a:solidFill>
              <a:srgbClr val="E23A26"/>
            </a:solidFill>
            <a:prstDash val="solid"/>
          </a:ln>
        </p:spPr>
      </p:sp>
      <p:sp>
        <p:nvSpPr>
          <p:cNvPr id="6" name="Shape 4"/>
          <p:cNvSpPr/>
          <p:nvPr/>
        </p:nvSpPr>
        <p:spPr>
          <a:xfrm>
            <a:off x="10003536" y="0"/>
            <a:ext cx="2185416" cy="155448"/>
          </a:xfrm>
          <a:prstGeom prst="rect">
            <a:avLst/>
          </a:prstGeom>
          <a:solidFill>
            <a:srgbClr val="79C3E4"/>
          </a:solidFill>
          <a:ln w="12700">
            <a:solidFill>
              <a:srgbClr val="79C3E4"/>
            </a:solidFill>
            <a:prstDash val="solid"/>
          </a:ln>
        </p:spPr>
      </p:sp>
      <p:sp>
        <p:nvSpPr>
          <p:cNvPr id="7" name="Shape 5"/>
          <p:cNvSpPr/>
          <p:nvPr/>
        </p:nvSpPr>
        <p:spPr>
          <a:xfrm>
            <a:off x="11356848" y="6053328"/>
            <a:ext cx="512064" cy="512064"/>
          </a:xfrm>
          <a:prstGeom prst="ellipse">
            <a:avLst/>
          </a:prstGeom>
          <a:solidFill>
            <a:srgbClr val="D8261C"/>
          </a:solidFill>
          <a:ln w="12700">
            <a:solidFill>
              <a:srgbClr val="D8261C"/>
            </a:solidFill>
            <a:prstDash val="solid"/>
          </a:ln>
        </p:spPr>
      </p:sp>
      <p:sp>
        <p:nvSpPr>
          <p:cNvPr id="8" name="Text 6"/>
          <p:cNvSpPr/>
          <p:nvPr/>
        </p:nvSpPr>
        <p:spPr>
          <a:xfrm>
            <a:off x="11356848" y="6053328"/>
            <a:ext cx="512064" cy="51206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Claro</a:t>
            </a:r>
            <a:endParaRPr lang="en-US" sz="900" dirty="0"/>
          </a:p>
        </p:txBody>
      </p:sp>
      <p:sp>
        <p:nvSpPr>
          <p:cNvPr id="9" name="Text 7"/>
          <p:cNvSpPr/>
          <p:nvPr/>
        </p:nvSpPr>
        <p:spPr>
          <a:xfrm>
            <a:off x="822960" y="2148840"/>
            <a:ext cx="10543032" cy="731520"/>
          </a:xfrm>
          <a:prstGeom prst="rect">
            <a:avLst/>
          </a:prstGeom>
          <a:noFill/>
          <a:ln/>
        </p:spPr>
        <p:txBody>
          <a:bodyPr wrap="square" lIns="0" tIns="0" rIns="0" bIns="0" rtlCol="0" anchor="ctr"/>
          <a:lstStyle/>
          <a:p>
            <a:pPr algn="ctr" indent="0" marL="0">
              <a:buNone/>
            </a:pPr>
            <a:r>
              <a:rPr lang="en-US" sz="3400" b="1" dirty="0">
                <a:solidFill>
                  <a:srgbClr val="1A1A1A"/>
                </a:solidFill>
                <a:latin typeface="Arial" pitchFamily="34" charset="0"/>
                <a:ea typeface="Arial" pitchFamily="34" charset="-122"/>
                <a:cs typeface="Arial" pitchFamily="34" charset="-120"/>
              </a:rPr>
              <a:t>Agente de análisis RAN</a:t>
            </a:r>
            <a:endParaRPr lang="en-US" sz="3400" dirty="0"/>
          </a:p>
        </p:txBody>
      </p:sp>
      <p:sp>
        <p:nvSpPr>
          <p:cNvPr id="10" name="Text 8"/>
          <p:cNvSpPr/>
          <p:nvPr/>
        </p:nvSpPr>
        <p:spPr>
          <a:xfrm>
            <a:off x="822960" y="2880360"/>
            <a:ext cx="10543032" cy="457200"/>
          </a:xfrm>
          <a:prstGeom prst="rect">
            <a:avLst/>
          </a:prstGeom>
          <a:noFill/>
          <a:ln/>
        </p:spPr>
        <p:txBody>
          <a:bodyPr wrap="square" lIns="0" tIns="0" rIns="0" bIns="0" rtlCol="0" anchor="ctr"/>
          <a:lstStyle/>
          <a:p>
            <a:pPr algn="ctr" indent="0" marL="0">
              <a:buNone/>
            </a:pPr>
            <a:r>
              <a:rPr lang="en-US" sz="1600" dirty="0">
                <a:solidFill>
                  <a:srgbClr val="333333"/>
                </a:solidFill>
                <a:latin typeface="Arial" pitchFamily="34" charset="0"/>
                <a:ea typeface="Arial" pitchFamily="34" charset="-122"/>
                <a:cs typeface="Arial" pitchFamily="34" charset="-120"/>
              </a:rPr>
              <a:t>De un asistente de drops a un diagnóstico integrado: drops, cobertura y PCI</a:t>
            </a:r>
            <a:endParaRPr lang="en-US" sz="1600" dirty="0"/>
          </a:p>
        </p:txBody>
      </p:sp>
      <p:sp>
        <p:nvSpPr>
          <p:cNvPr id="11" name="Text 9"/>
          <p:cNvSpPr/>
          <p:nvPr/>
        </p:nvSpPr>
        <p:spPr>
          <a:xfrm>
            <a:off x="822960" y="3794760"/>
            <a:ext cx="10543032" cy="320040"/>
          </a:xfrm>
          <a:prstGeom prst="rect">
            <a:avLst/>
          </a:prstGeom>
          <a:noFill/>
          <a:ln/>
        </p:spPr>
        <p:txBody>
          <a:bodyPr wrap="square" lIns="0" tIns="0" rIns="0" bIns="0" rtlCol="0" anchor="ctr"/>
          <a:lstStyle/>
          <a:p>
            <a:pPr algn="ctr" indent="0" marL="0">
              <a:buNone/>
            </a:pPr>
            <a:r>
              <a:rPr lang="en-US" sz="1300" dirty="0">
                <a:solidFill>
                  <a:srgbClr val="333333"/>
                </a:solidFill>
                <a:latin typeface="Arial" pitchFamily="34" charset="0"/>
                <a:ea typeface="Arial" pitchFamily="34" charset="-122"/>
                <a:cs typeface="Arial" pitchFamily="34" charset="-120"/>
              </a:rPr>
              <a:t>Propuesta de alcance y siguiente fase</a:t>
            </a:r>
            <a:endParaRPr lang="en-US" sz="1300" dirty="0"/>
          </a:p>
        </p:txBody>
      </p:sp>
      <p:sp>
        <p:nvSpPr>
          <p:cNvPr id="12" name="Text 10"/>
          <p:cNvSpPr/>
          <p:nvPr/>
        </p:nvSpPr>
        <p:spPr>
          <a:xfrm>
            <a:off x="822960" y="4114800"/>
            <a:ext cx="10543032" cy="320040"/>
          </a:xfrm>
          <a:prstGeom prst="rect">
            <a:avLst/>
          </a:prstGeom>
          <a:noFill/>
          <a:ln/>
        </p:spPr>
        <p:txBody>
          <a:bodyPr wrap="square" lIns="0" tIns="0" rIns="0" bIns="0" rtlCol="0" anchor="ctr"/>
          <a:lstStyle/>
          <a:p>
            <a:pPr algn="ctr" indent="0" marL="0">
              <a:buNone/>
            </a:pPr>
            <a:r>
              <a:rPr lang="en-US" sz="1150" dirty="0">
                <a:solidFill>
                  <a:srgbClr val="6B6B6B"/>
                </a:solidFill>
                <a:latin typeface="Arial" pitchFamily="34" charset="0"/>
                <a:ea typeface="Arial" pitchFamily="34" charset="-122"/>
                <a:cs typeface="Arial" pitchFamily="34" charset="-120"/>
              </a:rPr>
              <a:t>Planificación y Optimización RAN  ·  Agosto 2026</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783080" cy="155448"/>
          </a:xfrm>
          <a:prstGeom prst="rect">
            <a:avLst/>
          </a:prstGeom>
          <a:solidFill>
            <a:srgbClr val="A8C93B"/>
          </a:solidFill>
          <a:ln w="12700">
            <a:solidFill>
              <a:srgbClr val="A8C93B"/>
            </a:solidFill>
            <a:prstDash val="solid"/>
          </a:ln>
        </p:spPr>
      </p:sp>
      <p:sp>
        <p:nvSpPr>
          <p:cNvPr id="3" name="Shape 1"/>
          <p:cNvSpPr/>
          <p:nvPr/>
        </p:nvSpPr>
        <p:spPr>
          <a:xfrm>
            <a:off x="1783080" y="0"/>
            <a:ext cx="2752344" cy="155448"/>
          </a:xfrm>
          <a:prstGeom prst="rect">
            <a:avLst/>
          </a:prstGeom>
          <a:solidFill>
            <a:srgbClr val="E77B26"/>
          </a:solidFill>
          <a:ln w="12700">
            <a:solidFill>
              <a:srgbClr val="E77B26"/>
            </a:solidFill>
            <a:prstDash val="solid"/>
          </a:ln>
        </p:spPr>
      </p:sp>
      <p:sp>
        <p:nvSpPr>
          <p:cNvPr id="4" name="Shape 2"/>
          <p:cNvSpPr/>
          <p:nvPr/>
        </p:nvSpPr>
        <p:spPr>
          <a:xfrm>
            <a:off x="4535424" y="0"/>
            <a:ext cx="2734056" cy="155448"/>
          </a:xfrm>
          <a:prstGeom prst="rect">
            <a:avLst/>
          </a:prstGeom>
          <a:solidFill>
            <a:srgbClr val="F2A81D"/>
          </a:solidFill>
          <a:ln w="12700">
            <a:solidFill>
              <a:srgbClr val="F2A81D"/>
            </a:solidFill>
            <a:prstDash val="solid"/>
          </a:ln>
        </p:spPr>
      </p:sp>
      <p:sp>
        <p:nvSpPr>
          <p:cNvPr id="5" name="Shape 3"/>
          <p:cNvSpPr/>
          <p:nvPr/>
        </p:nvSpPr>
        <p:spPr>
          <a:xfrm>
            <a:off x="7269480" y="0"/>
            <a:ext cx="2734056" cy="155448"/>
          </a:xfrm>
          <a:prstGeom prst="rect">
            <a:avLst/>
          </a:prstGeom>
          <a:solidFill>
            <a:srgbClr val="E23A26"/>
          </a:solidFill>
          <a:ln w="12700">
            <a:solidFill>
              <a:srgbClr val="E23A26"/>
            </a:solidFill>
            <a:prstDash val="solid"/>
          </a:ln>
        </p:spPr>
      </p:sp>
      <p:sp>
        <p:nvSpPr>
          <p:cNvPr id="6" name="Shape 4"/>
          <p:cNvSpPr/>
          <p:nvPr/>
        </p:nvSpPr>
        <p:spPr>
          <a:xfrm>
            <a:off x="10003536" y="0"/>
            <a:ext cx="2185416" cy="155448"/>
          </a:xfrm>
          <a:prstGeom prst="rect">
            <a:avLst/>
          </a:prstGeom>
          <a:solidFill>
            <a:srgbClr val="79C3E4"/>
          </a:solidFill>
          <a:ln w="12700">
            <a:solidFill>
              <a:srgbClr val="79C3E4"/>
            </a:solidFill>
            <a:prstDash val="solid"/>
          </a:ln>
        </p:spPr>
      </p:sp>
      <p:sp>
        <p:nvSpPr>
          <p:cNvPr id="7" name="Shape 5"/>
          <p:cNvSpPr/>
          <p:nvPr/>
        </p:nvSpPr>
        <p:spPr>
          <a:xfrm>
            <a:off x="11356848" y="6053328"/>
            <a:ext cx="512064" cy="512064"/>
          </a:xfrm>
          <a:prstGeom prst="ellipse">
            <a:avLst/>
          </a:prstGeom>
          <a:solidFill>
            <a:srgbClr val="D8261C"/>
          </a:solidFill>
          <a:ln w="12700">
            <a:solidFill>
              <a:srgbClr val="D8261C"/>
            </a:solidFill>
            <a:prstDash val="solid"/>
          </a:ln>
        </p:spPr>
      </p:sp>
      <p:sp>
        <p:nvSpPr>
          <p:cNvPr id="8" name="Text 6"/>
          <p:cNvSpPr/>
          <p:nvPr/>
        </p:nvSpPr>
        <p:spPr>
          <a:xfrm>
            <a:off x="11356848" y="6053328"/>
            <a:ext cx="512064" cy="51206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Claro</a:t>
            </a:r>
            <a:endParaRPr lang="en-US" sz="900" dirty="0"/>
          </a:p>
        </p:txBody>
      </p:sp>
      <p:sp>
        <p:nvSpPr>
          <p:cNvPr id="9" name="Text 7"/>
          <p:cNvSpPr/>
          <p:nvPr/>
        </p:nvSpPr>
        <p:spPr>
          <a:xfrm>
            <a:off x="548640" y="6263640"/>
            <a:ext cx="914400" cy="274320"/>
          </a:xfrm>
          <a:prstGeom prst="rect">
            <a:avLst/>
          </a:prstGeom>
          <a:noFill/>
          <a:ln/>
        </p:spPr>
        <p:txBody>
          <a:bodyPr wrap="square" lIns="0" tIns="0" rIns="0" bIns="0" rtlCol="0" anchor="ctr"/>
          <a:lstStyle/>
          <a:p>
            <a:pPr algn="l" indent="0" marL="0">
              <a:buNone/>
            </a:pPr>
            <a:r>
              <a:rPr lang="en-US" sz="900" dirty="0">
                <a:solidFill>
                  <a:srgbClr val="6B6B6B"/>
                </a:solidFill>
                <a:latin typeface="Arial" pitchFamily="34" charset="0"/>
                <a:ea typeface="Arial" pitchFamily="34" charset="-122"/>
                <a:cs typeface="Arial" pitchFamily="34" charset="-120"/>
              </a:rPr>
              <a:t>2</a:t>
            </a:r>
            <a:endParaRPr lang="en-US" sz="900" dirty="0"/>
          </a:p>
        </p:txBody>
      </p:sp>
      <p:sp>
        <p:nvSpPr>
          <p:cNvPr id="10" name="Text 8"/>
          <p:cNvSpPr/>
          <p:nvPr/>
        </p:nvSpPr>
        <p:spPr>
          <a:xfrm>
            <a:off x="548640" y="384048"/>
            <a:ext cx="11091672" cy="457200"/>
          </a:xfrm>
          <a:prstGeom prst="rect">
            <a:avLst/>
          </a:prstGeom>
          <a:noFill/>
          <a:ln/>
        </p:spPr>
        <p:txBody>
          <a:bodyPr wrap="square" lIns="0" tIns="0" rIns="0" bIns="0" rtlCol="0" anchor="ctr"/>
          <a:lstStyle/>
          <a:p>
            <a:pPr algn="ctr" indent="0" marL="0">
              <a:buNone/>
            </a:pPr>
            <a:r>
              <a:rPr lang="en-US" sz="2400" b="1" dirty="0">
                <a:solidFill>
                  <a:srgbClr val="1A1A1A"/>
                </a:solidFill>
                <a:latin typeface="Arial" pitchFamily="34" charset="0"/>
                <a:ea typeface="Arial" pitchFamily="34" charset="-122"/>
                <a:cs typeface="Arial" pitchFamily="34" charset="-120"/>
              </a:rPr>
              <a:t>Cómo diagnosticamos una celda hoy</a:t>
            </a:r>
            <a:endParaRPr lang="en-US" sz="2400" dirty="0"/>
          </a:p>
        </p:txBody>
      </p:sp>
      <p:sp>
        <p:nvSpPr>
          <p:cNvPr id="11" name="Text 9"/>
          <p:cNvSpPr/>
          <p:nvPr/>
        </p:nvSpPr>
        <p:spPr>
          <a:xfrm>
            <a:off x="548640" y="932688"/>
            <a:ext cx="11091672" cy="384048"/>
          </a:xfrm>
          <a:prstGeom prst="rect">
            <a:avLst/>
          </a:prstGeom>
          <a:noFill/>
          <a:ln/>
        </p:spPr>
        <p:txBody>
          <a:bodyPr wrap="square" lIns="0" tIns="0" rIns="0" bIns="0" rtlCol="0" anchor="ctr"/>
          <a:lstStyle/>
          <a:p>
            <a:pPr algn="l" indent="0" marL="0">
              <a:buNone/>
            </a:pPr>
            <a:r>
              <a:rPr lang="en-US" sz="1250" dirty="0">
                <a:solidFill>
                  <a:srgbClr val="333333"/>
                </a:solidFill>
                <a:latin typeface="Arial" pitchFamily="34" charset="0"/>
                <a:ea typeface="Arial" pitchFamily="34" charset="-122"/>
                <a:cs typeface="Arial" pitchFamily="34" charset="-120"/>
              </a:rPr>
              <a:t>Los datos que necesito para explicar una caída están en tres sistemas distintos y ninguno se habla con el otro.</a:t>
            </a:r>
            <a:endParaRPr lang="en-US" sz="1250" dirty="0"/>
          </a:p>
        </p:txBody>
      </p:sp>
      <p:sp>
        <p:nvSpPr>
          <p:cNvPr id="12" name="Shape 10"/>
          <p:cNvSpPr/>
          <p:nvPr/>
        </p:nvSpPr>
        <p:spPr>
          <a:xfrm>
            <a:off x="548640" y="1737360"/>
            <a:ext cx="3017520" cy="822960"/>
          </a:xfrm>
          <a:prstGeom prst="rect">
            <a:avLst/>
          </a:prstGeom>
          <a:solidFill>
            <a:srgbClr val="FFFFFF"/>
          </a:solidFill>
          <a:ln w="12700">
            <a:solidFill>
              <a:srgbClr val="595959"/>
            </a:solidFill>
            <a:prstDash val="solid"/>
          </a:ln>
        </p:spPr>
      </p:sp>
      <p:sp>
        <p:nvSpPr>
          <p:cNvPr id="13" name="Text 11"/>
          <p:cNvSpPr/>
          <p:nvPr/>
        </p:nvSpPr>
        <p:spPr>
          <a:xfrm>
            <a:off x="621792" y="1737360"/>
            <a:ext cx="2871216" cy="822960"/>
          </a:xfrm>
          <a:prstGeom prst="rect">
            <a:avLst/>
          </a:prstGeom>
          <a:noFill/>
          <a:ln/>
        </p:spPr>
        <p:txBody>
          <a:bodyPr wrap="square" lIns="0" tIns="0" rIns="0" bIns="0" rtlCol="0" anchor="ctr"/>
          <a:lstStyle/>
          <a:p>
            <a:pPr algn="ctr" indent="0" marL="0">
              <a:lnSpc>
                <a:spcPct val="92000"/>
              </a:lnSpc>
              <a:buNone/>
            </a:pPr>
            <a:r>
              <a:rPr lang="en-US" sz="1050" dirty="0">
                <a:solidFill>
                  <a:srgbClr val="333333"/>
                </a:solidFill>
                <a:latin typeface="Arial" pitchFamily="34" charset="0"/>
                <a:ea typeface="Arial" pitchFamily="34" charset="-122"/>
                <a:cs typeface="Arial" pitchFamily="34" charset="-120"/>
              </a:rPr>
              <a:t>Contadores del OSS</a:t>
            </a:r>
            <a:endParaRPr lang="en-US" sz="1050" dirty="0"/>
          </a:p>
          <a:p>
            <a:pPr algn="ctr" indent="0" marL="0">
              <a:lnSpc>
                <a:spcPct val="92000"/>
              </a:lnSpc>
              <a:buNone/>
            </a:pPr>
            <a:r>
              <a:rPr lang="en-US" sz="1050" dirty="0">
                <a:solidFill>
                  <a:srgbClr val="333333"/>
                </a:solidFill>
                <a:latin typeface="Arial" pitchFamily="34" charset="0"/>
                <a:ea typeface="Arial" pitchFamily="34" charset="-122"/>
                <a:cs typeface="Arial" pitchFamily="34" charset="-120"/>
              </a:rPr>
              <a:t>Retenibilidad, causas de liberación, accesibilidad</a:t>
            </a:r>
            <a:endParaRPr lang="en-US" sz="1050" dirty="0"/>
          </a:p>
        </p:txBody>
      </p:sp>
      <p:sp>
        <p:nvSpPr>
          <p:cNvPr id="14" name="Shape 12"/>
          <p:cNvSpPr/>
          <p:nvPr/>
        </p:nvSpPr>
        <p:spPr>
          <a:xfrm>
            <a:off x="548640" y="2697480"/>
            <a:ext cx="3017520" cy="822960"/>
          </a:xfrm>
          <a:prstGeom prst="rect">
            <a:avLst/>
          </a:prstGeom>
          <a:solidFill>
            <a:srgbClr val="FFFFFF"/>
          </a:solidFill>
          <a:ln w="12700">
            <a:solidFill>
              <a:srgbClr val="595959"/>
            </a:solidFill>
            <a:prstDash val="solid"/>
          </a:ln>
        </p:spPr>
      </p:sp>
      <p:sp>
        <p:nvSpPr>
          <p:cNvPr id="15" name="Text 13"/>
          <p:cNvSpPr/>
          <p:nvPr/>
        </p:nvSpPr>
        <p:spPr>
          <a:xfrm>
            <a:off x="621792" y="2697480"/>
            <a:ext cx="2871216" cy="822960"/>
          </a:xfrm>
          <a:prstGeom prst="rect">
            <a:avLst/>
          </a:prstGeom>
          <a:noFill/>
          <a:ln/>
        </p:spPr>
        <p:txBody>
          <a:bodyPr wrap="square" lIns="0" tIns="0" rIns="0" bIns="0" rtlCol="0" anchor="ctr"/>
          <a:lstStyle/>
          <a:p>
            <a:pPr algn="ctr" indent="0" marL="0">
              <a:lnSpc>
                <a:spcPct val="92000"/>
              </a:lnSpc>
              <a:buNone/>
            </a:pPr>
            <a:r>
              <a:rPr lang="en-US" sz="1050" dirty="0">
                <a:solidFill>
                  <a:srgbClr val="333333"/>
                </a:solidFill>
                <a:latin typeface="Arial" pitchFamily="34" charset="0"/>
                <a:ea typeface="Arial" pitchFamily="34" charset="-122"/>
                <a:cs typeface="Arial" pitchFamily="34" charset="-120"/>
              </a:rPr>
              <a:t>Herramienta de PCI / RSI</a:t>
            </a:r>
            <a:endParaRPr lang="en-US" sz="1050" dirty="0"/>
          </a:p>
          <a:p>
            <a:pPr algn="ctr" indent="0" marL="0">
              <a:lnSpc>
                <a:spcPct val="92000"/>
              </a:lnSpc>
              <a:buNone/>
            </a:pPr>
            <a:r>
              <a:rPr lang="en-US" sz="1050" dirty="0">
                <a:solidFill>
                  <a:srgbClr val="333333"/>
                </a:solidFill>
                <a:latin typeface="Arial" pitchFamily="34" charset="0"/>
                <a:ea typeface="Arial" pitchFamily="34" charset="-122"/>
                <a:cs typeface="Arial" pitchFamily="34" charset="-120"/>
              </a:rPr>
              <a:t>Conflictos de identidad entre celdas</a:t>
            </a:r>
            <a:endParaRPr lang="en-US" sz="1050" dirty="0"/>
          </a:p>
        </p:txBody>
      </p:sp>
      <p:sp>
        <p:nvSpPr>
          <p:cNvPr id="16" name="Shape 14"/>
          <p:cNvSpPr/>
          <p:nvPr/>
        </p:nvSpPr>
        <p:spPr>
          <a:xfrm>
            <a:off x="548640" y="3657600"/>
            <a:ext cx="3017520" cy="822960"/>
          </a:xfrm>
          <a:prstGeom prst="rect">
            <a:avLst/>
          </a:prstGeom>
          <a:solidFill>
            <a:srgbClr val="FFFFFF"/>
          </a:solidFill>
          <a:ln w="12700">
            <a:solidFill>
              <a:srgbClr val="595959"/>
            </a:solidFill>
            <a:prstDash val="solid"/>
          </a:ln>
        </p:spPr>
      </p:sp>
      <p:sp>
        <p:nvSpPr>
          <p:cNvPr id="17" name="Text 15"/>
          <p:cNvSpPr/>
          <p:nvPr/>
        </p:nvSpPr>
        <p:spPr>
          <a:xfrm>
            <a:off x="621792" y="3657600"/>
            <a:ext cx="2871216" cy="822960"/>
          </a:xfrm>
          <a:prstGeom prst="rect">
            <a:avLst/>
          </a:prstGeom>
          <a:noFill/>
          <a:ln/>
        </p:spPr>
        <p:txBody>
          <a:bodyPr wrap="square" lIns="0" tIns="0" rIns="0" bIns="0" rtlCol="0" anchor="ctr"/>
          <a:lstStyle/>
          <a:p>
            <a:pPr algn="ctr" indent="0" marL="0">
              <a:lnSpc>
                <a:spcPct val="92000"/>
              </a:lnSpc>
              <a:buNone/>
            </a:pPr>
            <a:r>
              <a:rPr lang="en-US" sz="1050" dirty="0">
                <a:solidFill>
                  <a:srgbClr val="333333"/>
                </a:solidFill>
                <a:latin typeface="Arial" pitchFamily="34" charset="0"/>
                <a:ea typeface="Arial" pitchFamily="34" charset="-122"/>
                <a:cs typeface="Arial" pitchFamily="34" charset="-120"/>
              </a:rPr>
              <a:t>Cobertura en el terreno</a:t>
            </a:r>
            <a:endParaRPr lang="en-US" sz="1050" dirty="0"/>
          </a:p>
          <a:p>
            <a:pPr algn="ctr" indent="0" marL="0">
              <a:lnSpc>
                <a:spcPct val="92000"/>
              </a:lnSpc>
              <a:buNone/>
            </a:pPr>
            <a:r>
              <a:rPr lang="en-US" sz="1050" dirty="0">
                <a:solidFill>
                  <a:srgbClr val="333333"/>
                </a:solidFill>
                <a:latin typeface="Arial" pitchFamily="34" charset="0"/>
                <a:ea typeface="Arial" pitchFamily="34" charset="-122"/>
                <a:cs typeface="Arial" pitchFamily="34" charset="-120"/>
              </a:rPr>
              <a:t>Nivel y calidad de señal por zona</a:t>
            </a:r>
            <a:endParaRPr lang="en-US" sz="1050" dirty="0"/>
          </a:p>
        </p:txBody>
      </p:sp>
      <p:sp>
        <p:nvSpPr>
          <p:cNvPr id="18" name="Shape 16"/>
          <p:cNvSpPr/>
          <p:nvPr/>
        </p:nvSpPr>
        <p:spPr>
          <a:xfrm>
            <a:off x="3611880" y="2148840"/>
            <a:ext cx="1051560" cy="0"/>
          </a:xfrm>
          <a:prstGeom prst="line">
            <a:avLst/>
          </a:prstGeom>
          <a:noFill/>
          <a:ln w="15875">
            <a:solidFill>
              <a:srgbClr val="8C8C8C"/>
            </a:solidFill>
            <a:prstDash val="solid"/>
            <a:tailEnd type="triangle"/>
          </a:ln>
        </p:spPr>
      </p:sp>
      <p:sp>
        <p:nvSpPr>
          <p:cNvPr id="19" name="Shape 17"/>
          <p:cNvSpPr/>
          <p:nvPr/>
        </p:nvSpPr>
        <p:spPr>
          <a:xfrm>
            <a:off x="3611880" y="3108960"/>
            <a:ext cx="1051560" cy="0"/>
          </a:xfrm>
          <a:prstGeom prst="line">
            <a:avLst/>
          </a:prstGeom>
          <a:noFill/>
          <a:ln w="15875">
            <a:solidFill>
              <a:srgbClr val="8C8C8C"/>
            </a:solidFill>
            <a:prstDash val="solid"/>
            <a:tailEnd type="triangle"/>
          </a:ln>
        </p:spPr>
      </p:sp>
      <p:sp>
        <p:nvSpPr>
          <p:cNvPr id="20" name="Shape 18"/>
          <p:cNvSpPr/>
          <p:nvPr/>
        </p:nvSpPr>
        <p:spPr>
          <a:xfrm>
            <a:off x="3611880" y="4069080"/>
            <a:ext cx="1051560" cy="0"/>
          </a:xfrm>
          <a:prstGeom prst="line">
            <a:avLst/>
          </a:prstGeom>
          <a:noFill/>
          <a:ln w="15875">
            <a:solidFill>
              <a:srgbClr val="8C8C8C"/>
            </a:solidFill>
            <a:prstDash val="solid"/>
            <a:tailEnd type="triangle"/>
          </a:ln>
        </p:spPr>
      </p:sp>
      <p:sp>
        <p:nvSpPr>
          <p:cNvPr id="21" name="Shape 19"/>
          <p:cNvSpPr/>
          <p:nvPr/>
        </p:nvSpPr>
        <p:spPr>
          <a:xfrm>
            <a:off x="4754880" y="1737360"/>
            <a:ext cx="2651760" cy="2743200"/>
          </a:xfrm>
          <a:prstGeom prst="rect">
            <a:avLst/>
          </a:prstGeom>
          <a:solidFill>
            <a:srgbClr val="FFFFFF"/>
          </a:solidFill>
          <a:ln w="12700">
            <a:solidFill>
              <a:srgbClr val="595959"/>
            </a:solidFill>
            <a:prstDash val="solid"/>
          </a:ln>
        </p:spPr>
      </p:sp>
      <p:sp>
        <p:nvSpPr>
          <p:cNvPr id="22" name="Text 20"/>
          <p:cNvSpPr/>
          <p:nvPr/>
        </p:nvSpPr>
        <p:spPr>
          <a:xfrm>
            <a:off x="4828032" y="1737360"/>
            <a:ext cx="2505456" cy="2743200"/>
          </a:xfrm>
          <a:prstGeom prst="rect">
            <a:avLst/>
          </a:prstGeom>
          <a:noFill/>
          <a:ln/>
        </p:spPr>
        <p:txBody>
          <a:bodyPr wrap="square" lIns="0" tIns="0" rIns="0" bIns="0" rtlCol="0" anchor="ctr"/>
          <a:lstStyle/>
          <a:p>
            <a:pPr algn="ctr" indent="0" marL="0">
              <a:lnSpc>
                <a:spcPct val="92000"/>
              </a:lnSpc>
              <a:buNone/>
            </a:pPr>
            <a:r>
              <a:rPr lang="en-US" sz="1150" dirty="0">
                <a:solidFill>
                  <a:srgbClr val="333333"/>
                </a:solidFill>
                <a:latin typeface="Arial" pitchFamily="34" charset="0"/>
                <a:ea typeface="Arial" pitchFamily="34" charset="-122"/>
                <a:cs typeface="Arial" pitchFamily="34" charset="-120"/>
              </a:rPr>
              <a:t>Analista RAN</a:t>
            </a:r>
            <a:endParaRPr lang="en-US" sz="1150" dirty="0"/>
          </a:p>
          <a:p>
            <a:pPr algn="ctr" indent="0" marL="0">
              <a:lnSpc>
                <a:spcPct val="92000"/>
              </a:lnSpc>
              <a:buNone/>
            </a:pPr>
            <a:endParaRPr lang="en-US" sz="1150" dirty="0"/>
          </a:p>
          <a:p>
            <a:pPr algn="ctr" indent="0" marL="0">
              <a:lnSpc>
                <a:spcPct val="92000"/>
              </a:lnSpc>
              <a:buNone/>
            </a:pPr>
            <a:r>
              <a:rPr lang="en-US" sz="1150" dirty="0">
                <a:solidFill>
                  <a:srgbClr val="333333"/>
                </a:solidFill>
                <a:latin typeface="Arial" pitchFamily="34" charset="0"/>
                <a:ea typeface="Arial" pitchFamily="34" charset="-122"/>
                <a:cs typeface="Arial" pitchFamily="34" charset="-120"/>
              </a:rPr>
              <a:t>Exporta, cruza en planilla</a:t>
            </a:r>
            <a:endParaRPr lang="en-US" sz="1150" dirty="0"/>
          </a:p>
          <a:p>
            <a:pPr algn="ctr" indent="0" marL="0">
              <a:lnSpc>
                <a:spcPct val="92000"/>
              </a:lnSpc>
              <a:buNone/>
            </a:pPr>
            <a:r>
              <a:rPr lang="en-US" sz="1150" dirty="0">
                <a:solidFill>
                  <a:srgbClr val="333333"/>
                </a:solidFill>
                <a:latin typeface="Arial" pitchFamily="34" charset="0"/>
                <a:ea typeface="Arial" pitchFamily="34" charset="-122"/>
                <a:cs typeface="Arial" pitchFamily="34" charset="-120"/>
              </a:rPr>
              <a:t>e interpreta</a:t>
            </a:r>
            <a:endParaRPr lang="en-US" sz="1150" dirty="0"/>
          </a:p>
        </p:txBody>
      </p:sp>
      <p:sp>
        <p:nvSpPr>
          <p:cNvPr id="23" name="Shape 21"/>
          <p:cNvSpPr/>
          <p:nvPr/>
        </p:nvSpPr>
        <p:spPr>
          <a:xfrm>
            <a:off x="7452360" y="3108960"/>
            <a:ext cx="685800" cy="0"/>
          </a:xfrm>
          <a:prstGeom prst="line">
            <a:avLst/>
          </a:prstGeom>
          <a:noFill/>
          <a:ln w="15875">
            <a:solidFill>
              <a:srgbClr val="8C8C8C"/>
            </a:solidFill>
            <a:prstDash val="solid"/>
            <a:tailEnd type="triangle"/>
          </a:ln>
        </p:spPr>
      </p:sp>
      <p:sp>
        <p:nvSpPr>
          <p:cNvPr id="24" name="Shape 22"/>
          <p:cNvSpPr/>
          <p:nvPr/>
        </p:nvSpPr>
        <p:spPr>
          <a:xfrm>
            <a:off x="8183880" y="1737360"/>
            <a:ext cx="3456432" cy="2743200"/>
          </a:xfrm>
          <a:prstGeom prst="rect">
            <a:avLst/>
          </a:prstGeom>
          <a:solidFill>
            <a:srgbClr val="FFFFFF"/>
          </a:solidFill>
          <a:ln w="12700">
            <a:solidFill>
              <a:srgbClr val="595959"/>
            </a:solidFill>
            <a:prstDash val="solid"/>
          </a:ln>
        </p:spPr>
      </p:sp>
      <p:sp>
        <p:nvSpPr>
          <p:cNvPr id="25" name="Text 23"/>
          <p:cNvSpPr/>
          <p:nvPr/>
        </p:nvSpPr>
        <p:spPr>
          <a:xfrm>
            <a:off x="8257032" y="1737360"/>
            <a:ext cx="3310128" cy="2743200"/>
          </a:xfrm>
          <a:prstGeom prst="rect">
            <a:avLst/>
          </a:prstGeom>
          <a:noFill/>
          <a:ln/>
        </p:spPr>
        <p:txBody>
          <a:bodyPr wrap="square" lIns="0" tIns="0" rIns="0" bIns="0" rtlCol="0" anchor="ctr"/>
          <a:lstStyle/>
          <a:p>
            <a:pPr algn="ctr" indent="0" marL="0">
              <a:lnSpc>
                <a:spcPct val="92000"/>
              </a:lnSpc>
              <a:buNone/>
            </a:pPr>
            <a:r>
              <a:rPr lang="en-US" sz="1150" dirty="0">
                <a:solidFill>
                  <a:srgbClr val="333333"/>
                </a:solidFill>
                <a:latin typeface="Arial" pitchFamily="34" charset="0"/>
                <a:ea typeface="Arial" pitchFamily="34" charset="-122"/>
                <a:cs typeface="Arial" pitchFamily="34" charset="-120"/>
              </a:rPr>
              <a:t>Conclusión</a:t>
            </a:r>
            <a:endParaRPr lang="en-US" sz="1150" dirty="0"/>
          </a:p>
          <a:p>
            <a:pPr algn="ctr" indent="0" marL="0">
              <a:lnSpc>
                <a:spcPct val="92000"/>
              </a:lnSpc>
              <a:buNone/>
            </a:pPr>
            <a:endParaRPr lang="en-US" sz="1150" dirty="0"/>
          </a:p>
          <a:p>
            <a:pPr algn="ctr" indent="0" marL="0">
              <a:lnSpc>
                <a:spcPct val="92000"/>
              </a:lnSpc>
              <a:buNone/>
            </a:pPr>
            <a:r>
              <a:rPr lang="en-US" sz="1150" dirty="0">
                <a:solidFill>
                  <a:srgbClr val="333333"/>
                </a:solidFill>
                <a:latin typeface="Arial" pitchFamily="34" charset="0"/>
                <a:ea typeface="Arial" pitchFamily="34" charset="-122"/>
                <a:cs typeface="Arial" pitchFamily="34" charset="-120"/>
              </a:rPr>
              <a:t>Se apoya en la experiencia</a:t>
            </a:r>
            <a:endParaRPr lang="en-US" sz="1150" dirty="0"/>
          </a:p>
          <a:p>
            <a:pPr algn="ctr" indent="0" marL="0">
              <a:lnSpc>
                <a:spcPct val="92000"/>
              </a:lnSpc>
              <a:buNone/>
            </a:pPr>
            <a:r>
              <a:rPr lang="en-US" sz="1150" dirty="0">
                <a:solidFill>
                  <a:srgbClr val="333333"/>
                </a:solidFill>
                <a:latin typeface="Arial" pitchFamily="34" charset="0"/>
                <a:ea typeface="Arial" pitchFamily="34" charset="-122"/>
                <a:cs typeface="Arial" pitchFamily="34" charset="-120"/>
              </a:rPr>
              <a:t>de quien la arma</a:t>
            </a:r>
            <a:endParaRPr lang="en-US" sz="1150" dirty="0"/>
          </a:p>
        </p:txBody>
      </p:sp>
      <p:sp>
        <p:nvSpPr>
          <p:cNvPr id="26" name="Text 24"/>
          <p:cNvSpPr/>
          <p:nvPr/>
        </p:nvSpPr>
        <p:spPr>
          <a:xfrm>
            <a:off x="548640" y="4846320"/>
            <a:ext cx="3520440" cy="777240"/>
          </a:xfrm>
          <a:prstGeom prst="rect">
            <a:avLst/>
          </a:prstGeom>
          <a:noFill/>
          <a:ln/>
        </p:spPr>
        <p:txBody>
          <a:bodyPr wrap="square" lIns="0" tIns="0" rIns="0" bIns="0" rtlCol="0" anchor="t"/>
          <a:lstStyle/>
          <a:p>
            <a:pPr algn="l" indent="0" marL="0">
              <a:buNone/>
            </a:pPr>
            <a:r>
              <a:rPr lang="en-US" sz="1150" b="1" dirty="0">
                <a:solidFill>
                  <a:srgbClr val="1A1A1A"/>
                </a:solidFill>
                <a:latin typeface="Arial" pitchFamily="34" charset="0"/>
                <a:ea typeface="Arial" pitchFamily="34" charset="-122"/>
                <a:cs typeface="Arial" pitchFamily="34" charset="-120"/>
              </a:rPr>
              <a:t>Tiempo
</a:t>
            </a:r>
            <a:pPr algn="l" indent="0" marL="0">
              <a:buNone/>
            </a:pPr>
            <a:r>
              <a:rPr lang="en-US" sz="1100" dirty="0">
                <a:solidFill>
                  <a:srgbClr val="333333"/>
                </a:solidFill>
                <a:latin typeface="Arial" pitchFamily="34" charset="0"/>
                <a:ea typeface="Arial" pitchFamily="34" charset="-122"/>
                <a:cs typeface="Arial" pitchFamily="34" charset="-120"/>
              </a:rPr>
              <a:t>Horas por celda cuando el caso no es evidente.</a:t>
            </a:r>
            <a:endParaRPr lang="en-US" sz="1150" dirty="0"/>
          </a:p>
        </p:txBody>
      </p:sp>
      <p:sp>
        <p:nvSpPr>
          <p:cNvPr id="27" name="Text 25"/>
          <p:cNvSpPr/>
          <p:nvPr/>
        </p:nvSpPr>
        <p:spPr>
          <a:xfrm>
            <a:off x="4334256" y="4846320"/>
            <a:ext cx="3520440" cy="777240"/>
          </a:xfrm>
          <a:prstGeom prst="rect">
            <a:avLst/>
          </a:prstGeom>
          <a:noFill/>
          <a:ln/>
        </p:spPr>
        <p:txBody>
          <a:bodyPr wrap="square" lIns="0" tIns="0" rIns="0" bIns="0" rtlCol="0" anchor="t"/>
          <a:lstStyle/>
          <a:p>
            <a:pPr algn="l" indent="0" marL="0">
              <a:buNone/>
            </a:pPr>
            <a:r>
              <a:rPr lang="en-US" sz="1150" b="1" dirty="0">
                <a:solidFill>
                  <a:srgbClr val="1A1A1A"/>
                </a:solidFill>
                <a:latin typeface="Arial" pitchFamily="34" charset="0"/>
                <a:ea typeface="Arial" pitchFamily="34" charset="-122"/>
                <a:cs typeface="Arial" pitchFamily="34" charset="-120"/>
              </a:rPr>
              <a:t>Trazabilidad
</a:t>
            </a:r>
            <a:pPr algn="l" indent="0" marL="0">
              <a:buNone/>
            </a:pPr>
            <a:r>
              <a:rPr lang="en-US" sz="1100" dirty="0">
                <a:solidFill>
                  <a:srgbClr val="333333"/>
                </a:solidFill>
                <a:latin typeface="Arial" pitchFamily="34" charset="0"/>
                <a:ea typeface="Arial" pitchFamily="34" charset="-122"/>
                <a:cs typeface="Arial" pitchFamily="34" charset="-120"/>
              </a:rPr>
              <a:t>El razonamiento no queda registrado en ningún lado.</a:t>
            </a:r>
            <a:endParaRPr lang="en-US" sz="1150" dirty="0"/>
          </a:p>
        </p:txBody>
      </p:sp>
      <p:sp>
        <p:nvSpPr>
          <p:cNvPr id="28" name="Text 26"/>
          <p:cNvSpPr/>
          <p:nvPr/>
        </p:nvSpPr>
        <p:spPr>
          <a:xfrm>
            <a:off x="8119872" y="4846320"/>
            <a:ext cx="3520440" cy="777240"/>
          </a:xfrm>
          <a:prstGeom prst="rect">
            <a:avLst/>
          </a:prstGeom>
          <a:noFill/>
          <a:ln/>
        </p:spPr>
        <p:txBody>
          <a:bodyPr wrap="square" lIns="0" tIns="0" rIns="0" bIns="0" rtlCol="0" anchor="t"/>
          <a:lstStyle/>
          <a:p>
            <a:pPr algn="l" indent="0" marL="0">
              <a:buNone/>
            </a:pPr>
            <a:r>
              <a:rPr lang="en-US" sz="1150" b="1" dirty="0">
                <a:solidFill>
                  <a:srgbClr val="1A1A1A"/>
                </a:solidFill>
                <a:latin typeface="Arial" pitchFamily="34" charset="0"/>
                <a:ea typeface="Arial" pitchFamily="34" charset="-122"/>
                <a:cs typeface="Arial" pitchFamily="34" charset="-120"/>
              </a:rPr>
              <a:t>Consistencia
</a:t>
            </a:r>
            <a:pPr algn="l" indent="0" marL="0">
              <a:buNone/>
            </a:pPr>
            <a:r>
              <a:rPr lang="en-US" sz="1100" dirty="0">
                <a:solidFill>
                  <a:srgbClr val="333333"/>
                </a:solidFill>
                <a:latin typeface="Arial" pitchFamily="34" charset="0"/>
                <a:ea typeface="Arial" pitchFamily="34" charset="-122"/>
                <a:cs typeface="Arial" pitchFamily="34" charset="-120"/>
              </a:rPr>
              <a:t>Dos analistas pueden llegar a conclusiones distintas.</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783080" cy="155448"/>
          </a:xfrm>
          <a:prstGeom prst="rect">
            <a:avLst/>
          </a:prstGeom>
          <a:solidFill>
            <a:srgbClr val="A8C93B"/>
          </a:solidFill>
          <a:ln w="12700">
            <a:solidFill>
              <a:srgbClr val="A8C93B"/>
            </a:solidFill>
            <a:prstDash val="solid"/>
          </a:ln>
        </p:spPr>
      </p:sp>
      <p:sp>
        <p:nvSpPr>
          <p:cNvPr id="3" name="Shape 1"/>
          <p:cNvSpPr/>
          <p:nvPr/>
        </p:nvSpPr>
        <p:spPr>
          <a:xfrm>
            <a:off x="1783080" y="0"/>
            <a:ext cx="2752344" cy="155448"/>
          </a:xfrm>
          <a:prstGeom prst="rect">
            <a:avLst/>
          </a:prstGeom>
          <a:solidFill>
            <a:srgbClr val="E77B26"/>
          </a:solidFill>
          <a:ln w="12700">
            <a:solidFill>
              <a:srgbClr val="E77B26"/>
            </a:solidFill>
            <a:prstDash val="solid"/>
          </a:ln>
        </p:spPr>
      </p:sp>
      <p:sp>
        <p:nvSpPr>
          <p:cNvPr id="4" name="Shape 2"/>
          <p:cNvSpPr/>
          <p:nvPr/>
        </p:nvSpPr>
        <p:spPr>
          <a:xfrm>
            <a:off x="4535424" y="0"/>
            <a:ext cx="2734056" cy="155448"/>
          </a:xfrm>
          <a:prstGeom prst="rect">
            <a:avLst/>
          </a:prstGeom>
          <a:solidFill>
            <a:srgbClr val="F2A81D"/>
          </a:solidFill>
          <a:ln w="12700">
            <a:solidFill>
              <a:srgbClr val="F2A81D"/>
            </a:solidFill>
            <a:prstDash val="solid"/>
          </a:ln>
        </p:spPr>
      </p:sp>
      <p:sp>
        <p:nvSpPr>
          <p:cNvPr id="5" name="Shape 3"/>
          <p:cNvSpPr/>
          <p:nvPr/>
        </p:nvSpPr>
        <p:spPr>
          <a:xfrm>
            <a:off x="7269480" y="0"/>
            <a:ext cx="2734056" cy="155448"/>
          </a:xfrm>
          <a:prstGeom prst="rect">
            <a:avLst/>
          </a:prstGeom>
          <a:solidFill>
            <a:srgbClr val="E23A26"/>
          </a:solidFill>
          <a:ln w="12700">
            <a:solidFill>
              <a:srgbClr val="E23A26"/>
            </a:solidFill>
            <a:prstDash val="solid"/>
          </a:ln>
        </p:spPr>
      </p:sp>
      <p:sp>
        <p:nvSpPr>
          <p:cNvPr id="6" name="Shape 4"/>
          <p:cNvSpPr/>
          <p:nvPr/>
        </p:nvSpPr>
        <p:spPr>
          <a:xfrm>
            <a:off x="10003536" y="0"/>
            <a:ext cx="2185416" cy="155448"/>
          </a:xfrm>
          <a:prstGeom prst="rect">
            <a:avLst/>
          </a:prstGeom>
          <a:solidFill>
            <a:srgbClr val="79C3E4"/>
          </a:solidFill>
          <a:ln w="12700">
            <a:solidFill>
              <a:srgbClr val="79C3E4"/>
            </a:solidFill>
            <a:prstDash val="solid"/>
          </a:ln>
        </p:spPr>
      </p:sp>
      <p:sp>
        <p:nvSpPr>
          <p:cNvPr id="7" name="Shape 5"/>
          <p:cNvSpPr/>
          <p:nvPr/>
        </p:nvSpPr>
        <p:spPr>
          <a:xfrm>
            <a:off x="11356848" y="6053328"/>
            <a:ext cx="512064" cy="512064"/>
          </a:xfrm>
          <a:prstGeom prst="ellipse">
            <a:avLst/>
          </a:prstGeom>
          <a:solidFill>
            <a:srgbClr val="D8261C"/>
          </a:solidFill>
          <a:ln w="12700">
            <a:solidFill>
              <a:srgbClr val="D8261C"/>
            </a:solidFill>
            <a:prstDash val="solid"/>
          </a:ln>
        </p:spPr>
      </p:sp>
      <p:sp>
        <p:nvSpPr>
          <p:cNvPr id="8" name="Text 6"/>
          <p:cNvSpPr/>
          <p:nvPr/>
        </p:nvSpPr>
        <p:spPr>
          <a:xfrm>
            <a:off x="11356848" y="6053328"/>
            <a:ext cx="512064" cy="51206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Claro</a:t>
            </a:r>
            <a:endParaRPr lang="en-US" sz="900" dirty="0"/>
          </a:p>
        </p:txBody>
      </p:sp>
      <p:sp>
        <p:nvSpPr>
          <p:cNvPr id="9" name="Text 7"/>
          <p:cNvSpPr/>
          <p:nvPr/>
        </p:nvSpPr>
        <p:spPr>
          <a:xfrm>
            <a:off x="548640" y="6263640"/>
            <a:ext cx="914400" cy="274320"/>
          </a:xfrm>
          <a:prstGeom prst="rect">
            <a:avLst/>
          </a:prstGeom>
          <a:noFill/>
          <a:ln/>
        </p:spPr>
        <p:txBody>
          <a:bodyPr wrap="square" lIns="0" tIns="0" rIns="0" bIns="0" rtlCol="0" anchor="ctr"/>
          <a:lstStyle/>
          <a:p>
            <a:pPr algn="l" indent="0" marL="0">
              <a:buNone/>
            </a:pPr>
            <a:r>
              <a:rPr lang="en-US" sz="900" dirty="0">
                <a:solidFill>
                  <a:srgbClr val="6B6B6B"/>
                </a:solidFill>
                <a:latin typeface="Arial" pitchFamily="34" charset="0"/>
                <a:ea typeface="Arial" pitchFamily="34" charset="-122"/>
                <a:cs typeface="Arial" pitchFamily="34" charset="-120"/>
              </a:rPr>
              <a:t>3</a:t>
            </a:r>
            <a:endParaRPr lang="en-US" sz="900" dirty="0"/>
          </a:p>
        </p:txBody>
      </p:sp>
      <p:sp>
        <p:nvSpPr>
          <p:cNvPr id="10" name="Text 8"/>
          <p:cNvSpPr/>
          <p:nvPr/>
        </p:nvSpPr>
        <p:spPr>
          <a:xfrm>
            <a:off x="548640" y="384048"/>
            <a:ext cx="11091672" cy="457200"/>
          </a:xfrm>
          <a:prstGeom prst="rect">
            <a:avLst/>
          </a:prstGeom>
          <a:noFill/>
          <a:ln/>
        </p:spPr>
        <p:txBody>
          <a:bodyPr wrap="square" lIns="0" tIns="0" rIns="0" bIns="0" rtlCol="0" anchor="ctr"/>
          <a:lstStyle/>
          <a:p>
            <a:pPr algn="ctr" indent="0" marL="0">
              <a:buNone/>
            </a:pPr>
            <a:r>
              <a:rPr lang="en-US" sz="2400" b="1" dirty="0">
                <a:solidFill>
                  <a:srgbClr val="1A1A1A"/>
                </a:solidFill>
                <a:latin typeface="Arial" pitchFamily="34" charset="0"/>
                <a:ea typeface="Arial" pitchFamily="34" charset="-122"/>
                <a:cs typeface="Arial" pitchFamily="34" charset="-120"/>
              </a:rPr>
              <a:t>Lo que ya está construido y funcionando</a:t>
            </a:r>
            <a:endParaRPr lang="en-US" sz="2400" dirty="0"/>
          </a:p>
        </p:txBody>
      </p:sp>
      <p:sp>
        <p:nvSpPr>
          <p:cNvPr id="11" name="Text 9"/>
          <p:cNvSpPr/>
          <p:nvPr/>
        </p:nvSpPr>
        <p:spPr>
          <a:xfrm>
            <a:off x="548640" y="932688"/>
            <a:ext cx="11091672" cy="384048"/>
          </a:xfrm>
          <a:prstGeom prst="rect">
            <a:avLst/>
          </a:prstGeom>
          <a:noFill/>
          <a:ln/>
        </p:spPr>
        <p:txBody>
          <a:bodyPr wrap="square" lIns="0" tIns="0" rIns="0" bIns="0" rtlCol="0" anchor="ctr"/>
          <a:lstStyle/>
          <a:p>
            <a:pPr algn="l" indent="0" marL="0">
              <a:buNone/>
            </a:pPr>
            <a:r>
              <a:rPr lang="en-US" sz="1250" dirty="0">
                <a:solidFill>
                  <a:srgbClr val="333333"/>
                </a:solidFill>
                <a:latin typeface="Arial" pitchFamily="34" charset="0"/>
                <a:ea typeface="Arial" pitchFamily="34" charset="-122"/>
                <a:cs typeface="Arial" pitchFamily="34" charset="-120"/>
              </a:rPr>
              <a:t>La base existe y está probada. Lo que propongo es extenderla, no empezar de nuevo.</a:t>
            </a:r>
            <a:endParaRPr lang="en-US" sz="12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914400"/>
        </p:xfrm>
        <a:graphic>
          <a:graphicData uri="http://schemas.openxmlformats.org/drawingml/2006/table">
            <a:tbl>
              <a:tblPr/>
              <a:tblGrid>
                <a:gridCol w="2606040"/>
                <a:gridCol w="6062472"/>
                <a:gridCol w="2423160"/>
              </a:tblGrid>
              <a:tr h="411480">
                <a:tc>
                  <a:txBody>
                    <a:bodyPr/>
                    <a:lstStyle/>
                    <a:p>
                      <a:pPr indent="0" marL="0">
                        <a:buNone/>
                      </a:pPr>
                      <a:r>
                        <a:rPr lang="en-US" sz="1100" b="1" dirty="0">
                          <a:solidFill>
                            <a:srgbClr val="1A1A1A"/>
                          </a:solidFill>
                          <a:latin typeface="Arial" pitchFamily="34" charset="0"/>
                          <a:ea typeface="Arial" pitchFamily="34" charset="-122"/>
                          <a:cs typeface="Arial" pitchFamily="34" charset="-120"/>
                        </a:rPr>
                        <a:t>Componente</a:t>
                      </a:r>
                      <a:endParaRPr lang="en-US" sz="110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EDED"/>
                    </a:solidFill>
                  </a:tcPr>
                </a:tc>
                <a:tc>
                  <a:txBody>
                    <a:bodyPr/>
                    <a:lstStyle/>
                    <a:p>
                      <a:pPr indent="0" marL="0">
                        <a:buNone/>
                      </a:pPr>
                      <a:r>
                        <a:rPr lang="en-US" sz="1100" b="1" dirty="0">
                          <a:solidFill>
                            <a:srgbClr val="1A1A1A"/>
                          </a:solidFill>
                          <a:latin typeface="Arial" pitchFamily="34" charset="0"/>
                          <a:ea typeface="Arial" pitchFamily="34" charset="-122"/>
                          <a:cs typeface="Arial" pitchFamily="34" charset="-120"/>
                        </a:rPr>
                        <a:t>Qué hace hoy</a:t>
                      </a:r>
                      <a:endParaRPr lang="en-US" sz="110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EDED"/>
                    </a:solidFill>
                  </a:tcPr>
                </a:tc>
                <a:tc>
                  <a:txBody>
                    <a:bodyPr/>
                    <a:lstStyle/>
                    <a:p>
                      <a:pPr indent="0" marL="0">
                        <a:buNone/>
                      </a:pPr>
                      <a:r>
                        <a:rPr lang="en-US" sz="1100" b="1" dirty="0">
                          <a:solidFill>
                            <a:srgbClr val="1A1A1A"/>
                          </a:solidFill>
                          <a:latin typeface="Arial" pitchFamily="34" charset="0"/>
                          <a:ea typeface="Arial" pitchFamily="34" charset="-122"/>
                          <a:cs typeface="Arial" pitchFamily="34" charset="-120"/>
                        </a:rPr>
                        <a:t>Estado</a:t>
                      </a:r>
                      <a:endParaRPr lang="en-US" sz="110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EDED"/>
                    </a:solidFill>
                  </a:tcPr>
                </a:tc>
              </a:tr>
              <a:tr h="621792">
                <a:tc>
                  <a:txBody>
                    <a:bodyPr/>
                    <a:lstStyle/>
                    <a:p>
                      <a:pPr indent="0" marL="0">
                        <a:buNone/>
                      </a:pPr>
                      <a:r>
                        <a:rPr lang="en-US" sz="1100" b="1" dirty="0">
                          <a:solidFill>
                            <a:srgbClr val="333333"/>
                          </a:solidFill>
                          <a:latin typeface="Arial" pitchFamily="34" charset="0"/>
                          <a:ea typeface="Arial" pitchFamily="34" charset="-122"/>
                          <a:cs typeface="Arial" pitchFamily="34" charset="-120"/>
                        </a:rPr>
                        <a:t>Agente de drops</a:t>
                      </a:r>
                      <a:endParaRPr lang="en-US" sz="110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7F7"/>
                    </a:solidFill>
                  </a:tcPr>
                </a:tc>
                <a:tc>
                  <a:txBody>
                    <a:bodyPr/>
                    <a:lstStyle/>
                    <a:p>
                      <a:pPr indent="0" marL="0">
                        <a:buNone/>
                      </a:pPr>
                      <a:r>
                        <a:rPr lang="en-US" sz="1100" dirty="0">
                          <a:solidFill>
                            <a:srgbClr val="333333"/>
                          </a:solidFill>
                          <a:latin typeface="Arial" pitchFamily="34" charset="0"/>
                          <a:ea typeface="Arial" pitchFamily="34" charset="-122"/>
                          <a:cs typeface="Arial" pitchFamily="34" charset="-120"/>
                        </a:rPr>
                        <a:t>Responde en lenguaje natural sobre contadores de 5G NSA y arma el diagnóstico de retenibilidad de una celda</a:t>
                      </a:r>
                      <a:endParaRPr lang="en-US" sz="110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7F7"/>
                    </a:solidFill>
                  </a:tcPr>
                </a:tc>
                <a:tc>
                  <a:txBody>
                    <a:bodyPr/>
                    <a:lstStyle/>
                    <a:p>
                      <a:pPr indent="0" marL="0">
                        <a:buNone/>
                      </a:pPr>
                      <a:r>
                        <a:rPr lang="en-US" sz="1100" dirty="0">
                          <a:solidFill>
                            <a:srgbClr val="333333"/>
                          </a:solidFill>
                          <a:latin typeface="Arial" pitchFamily="34" charset="0"/>
                          <a:ea typeface="Arial" pitchFamily="34" charset="-122"/>
                          <a:cs typeface="Arial" pitchFamily="34" charset="-120"/>
                        </a:rPr>
                        <a:t>En funcionamiento</a:t>
                      </a:r>
                      <a:endParaRPr lang="en-US" sz="110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7F7"/>
                    </a:solidFill>
                  </a:tcPr>
                </a:tc>
              </a:tr>
              <a:tr h="566928">
                <a:tc>
                  <a:txBody>
                    <a:bodyPr/>
                    <a:lstStyle/>
                    <a:p>
                      <a:pPr indent="0" marL="0">
                        <a:buNone/>
                      </a:pPr>
                      <a:r>
                        <a:rPr lang="en-US" sz="1100" b="1" dirty="0">
                          <a:solidFill>
                            <a:srgbClr val="333333"/>
                          </a:solidFill>
                          <a:latin typeface="Arial" pitchFamily="34" charset="0"/>
                          <a:ea typeface="Arial" pitchFamily="34" charset="-122"/>
                          <a:cs typeface="Arial" pitchFamily="34" charset="-120"/>
                        </a:rPr>
                        <a:t>Base de conocimiento</a:t>
                      </a:r>
                      <a:endParaRPr lang="en-US" sz="110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00" dirty="0">
                          <a:solidFill>
                            <a:srgbClr val="333333"/>
                          </a:solidFill>
                          <a:latin typeface="Arial" pitchFamily="34" charset="0"/>
                          <a:ea typeface="Arial" pitchFamily="34" charset="-122"/>
                          <a:cs typeface="Arial" pitchFamily="34" charset="-120"/>
                        </a:rPr>
                        <a:t>Consulta documentación de causas de drop para justificar la respuesta con criterio técnico</a:t>
                      </a:r>
                      <a:endParaRPr lang="en-US" sz="110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00" dirty="0">
                          <a:solidFill>
                            <a:srgbClr val="333333"/>
                          </a:solidFill>
                          <a:latin typeface="Arial" pitchFamily="34" charset="0"/>
                          <a:ea typeface="Arial" pitchFamily="34" charset="-122"/>
                          <a:cs typeface="Arial" pitchFamily="34" charset="-120"/>
                        </a:rPr>
                        <a:t>En funcionamiento</a:t>
                      </a:r>
                      <a:endParaRPr lang="en-US" sz="110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566928">
                <a:tc>
                  <a:txBody>
                    <a:bodyPr/>
                    <a:lstStyle/>
                    <a:p>
                      <a:pPr indent="0" marL="0">
                        <a:buNone/>
                      </a:pPr>
                      <a:r>
                        <a:rPr lang="en-US" sz="1100" b="1" dirty="0">
                          <a:solidFill>
                            <a:srgbClr val="333333"/>
                          </a:solidFill>
                          <a:latin typeface="Arial" pitchFamily="34" charset="0"/>
                          <a:ea typeface="Arial" pitchFamily="34" charset="-122"/>
                          <a:cs typeface="Arial" pitchFamily="34" charset="-120"/>
                        </a:rPr>
                        <a:t>Controles y registro</a:t>
                      </a:r>
                      <a:endParaRPr lang="en-US" sz="110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7F7"/>
                    </a:solidFill>
                  </a:tcPr>
                </a:tc>
                <a:tc>
                  <a:txBody>
                    <a:bodyPr/>
                    <a:lstStyle/>
                    <a:p>
                      <a:pPr indent="0" marL="0">
                        <a:buNone/>
                      </a:pPr>
                      <a:r>
                        <a:rPr lang="en-US" sz="1100" dirty="0">
                          <a:solidFill>
                            <a:srgbClr val="333333"/>
                          </a:solidFill>
                          <a:latin typeface="Arial" pitchFamily="34" charset="0"/>
                          <a:ea typeface="Arial" pitchFamily="34" charset="-122"/>
                          <a:cs typeface="Arial" pitchFamily="34" charset="-120"/>
                        </a:rPr>
                        <a:t>Descarta consultas fuera de alcance y deja traza de cada consulta y de los datos usados</a:t>
                      </a:r>
                      <a:endParaRPr lang="en-US" sz="110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7F7"/>
                    </a:solidFill>
                  </a:tcPr>
                </a:tc>
                <a:tc>
                  <a:txBody>
                    <a:bodyPr/>
                    <a:lstStyle/>
                    <a:p>
                      <a:pPr indent="0" marL="0">
                        <a:buNone/>
                      </a:pPr>
                      <a:r>
                        <a:rPr lang="en-US" sz="1100" dirty="0">
                          <a:solidFill>
                            <a:srgbClr val="333333"/>
                          </a:solidFill>
                          <a:latin typeface="Arial" pitchFamily="34" charset="0"/>
                          <a:ea typeface="Arial" pitchFamily="34" charset="-122"/>
                          <a:cs typeface="Arial" pitchFamily="34" charset="-120"/>
                        </a:rPr>
                        <a:t>En funcionamiento</a:t>
                      </a:r>
                      <a:endParaRPr lang="en-US" sz="110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7F7"/>
                    </a:solidFill>
                  </a:tcPr>
                </a:tc>
              </a:tr>
              <a:tr h="566928">
                <a:tc>
                  <a:txBody>
                    <a:bodyPr/>
                    <a:lstStyle/>
                    <a:p>
                      <a:pPr indent="0" marL="0">
                        <a:buNone/>
                      </a:pPr>
                      <a:r>
                        <a:rPr lang="en-US" sz="1100" b="1" dirty="0">
                          <a:solidFill>
                            <a:srgbClr val="333333"/>
                          </a:solidFill>
                          <a:latin typeface="Arial" pitchFamily="34" charset="0"/>
                          <a:ea typeface="Arial" pitchFamily="34" charset="-122"/>
                          <a:cs typeface="Arial" pitchFamily="34" charset="-120"/>
                        </a:rPr>
                        <a:t>Banco de pruebas</a:t>
                      </a:r>
                      <a:endParaRPr lang="en-US" sz="110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00" dirty="0">
                          <a:solidFill>
                            <a:srgbClr val="333333"/>
                          </a:solidFill>
                          <a:latin typeface="Arial" pitchFamily="34" charset="0"/>
                          <a:ea typeface="Arial" pitchFamily="34" charset="-122"/>
                          <a:cs typeface="Arial" pitchFamily="34" charset="-120"/>
                        </a:rPr>
                        <a:t>Mide si el agente responde bien sobre un conjunto de casos conocidos</a:t>
                      </a:r>
                      <a:endParaRPr lang="en-US" sz="110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00" dirty="0">
                          <a:solidFill>
                            <a:srgbClr val="333333"/>
                          </a:solidFill>
                          <a:latin typeface="Arial" pitchFamily="34" charset="0"/>
                          <a:ea typeface="Arial" pitchFamily="34" charset="-122"/>
                          <a:cs typeface="Arial" pitchFamily="34" charset="-120"/>
                        </a:rPr>
                        <a:t>En funcionamiento</a:t>
                      </a:r>
                      <a:endParaRPr lang="en-US" sz="110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566928">
                <a:tc>
                  <a:txBody>
                    <a:bodyPr/>
                    <a:lstStyle/>
                    <a:p>
                      <a:pPr indent="0" marL="0">
                        <a:buNone/>
                      </a:pPr>
                      <a:r>
                        <a:rPr lang="en-US" sz="1100" b="1" dirty="0">
                          <a:solidFill>
                            <a:srgbClr val="333333"/>
                          </a:solidFill>
                          <a:latin typeface="Arial" pitchFamily="34" charset="0"/>
                          <a:ea typeface="Arial" pitchFamily="34" charset="-122"/>
                          <a:cs typeface="Arial" pitchFamily="34" charset="-120"/>
                        </a:rPr>
                        <a:t>Coordinador y módulo de PCI</a:t>
                      </a:r>
                      <a:endParaRPr lang="en-US" sz="110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7F7"/>
                    </a:solidFill>
                  </a:tcPr>
                </a:tc>
                <a:tc>
                  <a:txBody>
                    <a:bodyPr/>
                    <a:lstStyle/>
                    <a:p>
                      <a:pPr indent="0" marL="0">
                        <a:buNone/>
                      </a:pPr>
                      <a:r>
                        <a:rPr lang="en-US" sz="1100" dirty="0">
                          <a:solidFill>
                            <a:srgbClr val="333333"/>
                          </a:solidFill>
                          <a:latin typeface="Arial" pitchFamily="34" charset="0"/>
                          <a:ea typeface="Arial" pitchFamily="34" charset="-122"/>
                          <a:cs typeface="Arial" pitchFamily="34" charset="-120"/>
                        </a:rPr>
                        <a:t>Consulta varios módulos sobre la misma celda y cruza sus resultados</a:t>
                      </a:r>
                      <a:endParaRPr lang="en-US" sz="110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7F7"/>
                    </a:solidFill>
                  </a:tcPr>
                </a:tc>
                <a:tc>
                  <a:txBody>
                    <a:bodyPr/>
                    <a:lstStyle/>
                    <a:p>
                      <a:pPr indent="0" marL="0">
                        <a:buNone/>
                      </a:pPr>
                      <a:r>
                        <a:rPr lang="en-US" sz="1100" dirty="0">
                          <a:solidFill>
                            <a:srgbClr val="333333"/>
                          </a:solidFill>
                          <a:latin typeface="Arial" pitchFamily="34" charset="0"/>
                          <a:ea typeface="Arial" pitchFamily="34" charset="-122"/>
                          <a:cs typeface="Arial" pitchFamily="34" charset="-120"/>
                        </a:rPr>
                        <a:t>Probado con datos de prueba</a:t>
                      </a:r>
                      <a:endParaRPr lang="en-US" sz="110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7F7"/>
                    </a:solidFill>
                  </a:tcPr>
                </a:tc>
              </a:tr>
            </a:tbl>
          </a:graphicData>
        </a:graphic>
      </p:graphicFrame>
      <p:sp>
        <p:nvSpPr>
          <p:cNvPr id="13" name="Text 10"/>
          <p:cNvSpPr/>
          <p:nvPr/>
        </p:nvSpPr>
        <p:spPr>
          <a:xfrm>
            <a:off x="548640" y="5257800"/>
            <a:ext cx="11091672" cy="365760"/>
          </a:xfrm>
          <a:prstGeom prst="rect">
            <a:avLst/>
          </a:prstGeom>
          <a:noFill/>
          <a:ln/>
        </p:spPr>
        <p:txBody>
          <a:bodyPr wrap="square" lIns="0" tIns="0" rIns="0" bIns="0" rtlCol="0" anchor="ctr"/>
          <a:lstStyle/>
          <a:p>
            <a:pPr algn="l" indent="0" marL="0">
              <a:buNone/>
            </a:pPr>
            <a:r>
              <a:rPr lang="en-US" sz="1100" dirty="0">
                <a:solidFill>
                  <a:srgbClr val="6B6B6B"/>
                </a:solidFill>
                <a:latin typeface="Arial" pitchFamily="34" charset="0"/>
                <a:ea typeface="Arial" pitchFamily="34" charset="-122"/>
                <a:cs typeface="Arial" pitchFamily="34" charset="-120"/>
              </a:rPr>
              <a:t>El módulo de cobertura todavía no existe: hoy no tenemos la fuente de datos. Se presenta como diseño, no como demostración.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783080" cy="155448"/>
          </a:xfrm>
          <a:prstGeom prst="rect">
            <a:avLst/>
          </a:prstGeom>
          <a:solidFill>
            <a:srgbClr val="A8C93B"/>
          </a:solidFill>
          <a:ln w="12700">
            <a:solidFill>
              <a:srgbClr val="A8C93B"/>
            </a:solidFill>
            <a:prstDash val="solid"/>
          </a:ln>
        </p:spPr>
      </p:sp>
      <p:sp>
        <p:nvSpPr>
          <p:cNvPr id="3" name="Shape 1"/>
          <p:cNvSpPr/>
          <p:nvPr/>
        </p:nvSpPr>
        <p:spPr>
          <a:xfrm>
            <a:off x="1783080" y="0"/>
            <a:ext cx="2752344" cy="155448"/>
          </a:xfrm>
          <a:prstGeom prst="rect">
            <a:avLst/>
          </a:prstGeom>
          <a:solidFill>
            <a:srgbClr val="E77B26"/>
          </a:solidFill>
          <a:ln w="12700">
            <a:solidFill>
              <a:srgbClr val="E77B26"/>
            </a:solidFill>
            <a:prstDash val="solid"/>
          </a:ln>
        </p:spPr>
      </p:sp>
      <p:sp>
        <p:nvSpPr>
          <p:cNvPr id="4" name="Shape 2"/>
          <p:cNvSpPr/>
          <p:nvPr/>
        </p:nvSpPr>
        <p:spPr>
          <a:xfrm>
            <a:off x="4535424" y="0"/>
            <a:ext cx="2734056" cy="155448"/>
          </a:xfrm>
          <a:prstGeom prst="rect">
            <a:avLst/>
          </a:prstGeom>
          <a:solidFill>
            <a:srgbClr val="F2A81D"/>
          </a:solidFill>
          <a:ln w="12700">
            <a:solidFill>
              <a:srgbClr val="F2A81D"/>
            </a:solidFill>
            <a:prstDash val="solid"/>
          </a:ln>
        </p:spPr>
      </p:sp>
      <p:sp>
        <p:nvSpPr>
          <p:cNvPr id="5" name="Shape 3"/>
          <p:cNvSpPr/>
          <p:nvPr/>
        </p:nvSpPr>
        <p:spPr>
          <a:xfrm>
            <a:off x="7269480" y="0"/>
            <a:ext cx="2734056" cy="155448"/>
          </a:xfrm>
          <a:prstGeom prst="rect">
            <a:avLst/>
          </a:prstGeom>
          <a:solidFill>
            <a:srgbClr val="E23A26"/>
          </a:solidFill>
          <a:ln w="12700">
            <a:solidFill>
              <a:srgbClr val="E23A26"/>
            </a:solidFill>
            <a:prstDash val="solid"/>
          </a:ln>
        </p:spPr>
      </p:sp>
      <p:sp>
        <p:nvSpPr>
          <p:cNvPr id="6" name="Shape 4"/>
          <p:cNvSpPr/>
          <p:nvPr/>
        </p:nvSpPr>
        <p:spPr>
          <a:xfrm>
            <a:off x="10003536" y="0"/>
            <a:ext cx="2185416" cy="155448"/>
          </a:xfrm>
          <a:prstGeom prst="rect">
            <a:avLst/>
          </a:prstGeom>
          <a:solidFill>
            <a:srgbClr val="79C3E4"/>
          </a:solidFill>
          <a:ln w="12700">
            <a:solidFill>
              <a:srgbClr val="79C3E4"/>
            </a:solidFill>
            <a:prstDash val="solid"/>
          </a:ln>
        </p:spPr>
      </p:sp>
      <p:sp>
        <p:nvSpPr>
          <p:cNvPr id="7" name="Shape 5"/>
          <p:cNvSpPr/>
          <p:nvPr/>
        </p:nvSpPr>
        <p:spPr>
          <a:xfrm>
            <a:off x="11356848" y="6053328"/>
            <a:ext cx="512064" cy="512064"/>
          </a:xfrm>
          <a:prstGeom prst="ellipse">
            <a:avLst/>
          </a:prstGeom>
          <a:solidFill>
            <a:srgbClr val="D8261C"/>
          </a:solidFill>
          <a:ln w="12700">
            <a:solidFill>
              <a:srgbClr val="D8261C"/>
            </a:solidFill>
            <a:prstDash val="solid"/>
          </a:ln>
        </p:spPr>
      </p:sp>
      <p:sp>
        <p:nvSpPr>
          <p:cNvPr id="8" name="Text 6"/>
          <p:cNvSpPr/>
          <p:nvPr/>
        </p:nvSpPr>
        <p:spPr>
          <a:xfrm>
            <a:off x="11356848" y="6053328"/>
            <a:ext cx="512064" cy="51206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Claro</a:t>
            </a:r>
            <a:endParaRPr lang="en-US" sz="900" dirty="0"/>
          </a:p>
        </p:txBody>
      </p:sp>
      <p:sp>
        <p:nvSpPr>
          <p:cNvPr id="9" name="Text 7"/>
          <p:cNvSpPr/>
          <p:nvPr/>
        </p:nvSpPr>
        <p:spPr>
          <a:xfrm>
            <a:off x="548640" y="6263640"/>
            <a:ext cx="914400" cy="274320"/>
          </a:xfrm>
          <a:prstGeom prst="rect">
            <a:avLst/>
          </a:prstGeom>
          <a:noFill/>
          <a:ln/>
        </p:spPr>
        <p:txBody>
          <a:bodyPr wrap="square" lIns="0" tIns="0" rIns="0" bIns="0" rtlCol="0" anchor="ctr"/>
          <a:lstStyle/>
          <a:p>
            <a:pPr algn="l" indent="0" marL="0">
              <a:buNone/>
            </a:pPr>
            <a:r>
              <a:rPr lang="en-US" sz="900" dirty="0">
                <a:solidFill>
                  <a:srgbClr val="6B6B6B"/>
                </a:solidFill>
                <a:latin typeface="Arial" pitchFamily="34" charset="0"/>
                <a:ea typeface="Arial" pitchFamily="34" charset="-122"/>
                <a:cs typeface="Arial" pitchFamily="34" charset="-120"/>
              </a:rPr>
              <a:t>4</a:t>
            </a:r>
            <a:endParaRPr lang="en-US" sz="900" dirty="0"/>
          </a:p>
        </p:txBody>
      </p:sp>
      <p:sp>
        <p:nvSpPr>
          <p:cNvPr id="10" name="Text 8"/>
          <p:cNvSpPr/>
          <p:nvPr/>
        </p:nvSpPr>
        <p:spPr>
          <a:xfrm>
            <a:off x="548640" y="384048"/>
            <a:ext cx="11091672" cy="457200"/>
          </a:xfrm>
          <a:prstGeom prst="rect">
            <a:avLst/>
          </a:prstGeom>
          <a:noFill/>
          <a:ln/>
        </p:spPr>
        <p:txBody>
          <a:bodyPr wrap="square" lIns="0" tIns="0" rIns="0" bIns="0" rtlCol="0" anchor="ctr"/>
          <a:lstStyle/>
          <a:p>
            <a:pPr algn="ctr" indent="0" marL="0">
              <a:buNone/>
            </a:pPr>
            <a:r>
              <a:rPr lang="en-US" sz="2400" b="1" dirty="0">
                <a:solidFill>
                  <a:srgbClr val="1A1A1A"/>
                </a:solidFill>
                <a:latin typeface="Arial" pitchFamily="34" charset="0"/>
                <a:ea typeface="Arial" pitchFamily="34" charset="-122"/>
                <a:cs typeface="Arial" pitchFamily="34" charset="-120"/>
              </a:rPr>
              <a:t>La idea: un punto de entrada, tres especialistas</a:t>
            </a:r>
            <a:endParaRPr lang="en-US" sz="2400" dirty="0"/>
          </a:p>
        </p:txBody>
      </p:sp>
      <p:sp>
        <p:nvSpPr>
          <p:cNvPr id="11" name="Text 9"/>
          <p:cNvSpPr/>
          <p:nvPr/>
        </p:nvSpPr>
        <p:spPr>
          <a:xfrm>
            <a:off x="548640" y="932688"/>
            <a:ext cx="11091672" cy="384048"/>
          </a:xfrm>
          <a:prstGeom prst="rect">
            <a:avLst/>
          </a:prstGeom>
          <a:noFill/>
          <a:ln/>
        </p:spPr>
        <p:txBody>
          <a:bodyPr wrap="square" lIns="0" tIns="0" rIns="0" bIns="0" rtlCol="0" anchor="ctr"/>
          <a:lstStyle/>
          <a:p>
            <a:pPr algn="l" indent="0" marL="0">
              <a:buNone/>
            </a:pPr>
            <a:r>
              <a:rPr lang="en-US" sz="1250" dirty="0">
                <a:solidFill>
                  <a:srgbClr val="333333"/>
                </a:solidFill>
                <a:latin typeface="Arial" pitchFamily="34" charset="0"/>
                <a:ea typeface="Arial" pitchFamily="34" charset="-122"/>
                <a:cs typeface="Arial" pitchFamily="34" charset="-120"/>
              </a:rPr>
              <a:t>El analista pregunta una sola vez. El coordinador reparte la consulta, cruza lo que vuelve y devuelve una conclusión con su evidencia.</a:t>
            </a:r>
            <a:endParaRPr lang="en-US" sz="1250" dirty="0"/>
          </a:p>
        </p:txBody>
      </p:sp>
      <p:sp>
        <p:nvSpPr>
          <p:cNvPr id="12" name="Shape 10"/>
          <p:cNvSpPr/>
          <p:nvPr/>
        </p:nvSpPr>
        <p:spPr>
          <a:xfrm>
            <a:off x="4590288" y="1481328"/>
            <a:ext cx="3017520" cy="457200"/>
          </a:xfrm>
          <a:prstGeom prst="rect">
            <a:avLst/>
          </a:prstGeom>
          <a:solidFill>
            <a:srgbClr val="FFFFFF"/>
          </a:solidFill>
          <a:ln w="12700">
            <a:solidFill>
              <a:srgbClr val="595959"/>
            </a:solidFill>
            <a:prstDash val="solid"/>
          </a:ln>
        </p:spPr>
      </p:sp>
      <p:sp>
        <p:nvSpPr>
          <p:cNvPr id="13" name="Text 11"/>
          <p:cNvSpPr/>
          <p:nvPr/>
        </p:nvSpPr>
        <p:spPr>
          <a:xfrm>
            <a:off x="4663440" y="1481328"/>
            <a:ext cx="2871216" cy="457200"/>
          </a:xfrm>
          <a:prstGeom prst="rect">
            <a:avLst/>
          </a:prstGeom>
          <a:noFill/>
          <a:ln/>
        </p:spPr>
        <p:txBody>
          <a:bodyPr wrap="square" lIns="0" tIns="0" rIns="0" bIns="0" rtlCol="0" anchor="ctr"/>
          <a:lstStyle/>
          <a:p>
            <a:pPr algn="ctr" indent="0" marL="0">
              <a:lnSpc>
                <a:spcPct val="92000"/>
              </a:lnSpc>
              <a:buNone/>
            </a:pPr>
            <a:r>
              <a:rPr lang="en-US" sz="1100" dirty="0">
                <a:solidFill>
                  <a:srgbClr val="333333"/>
                </a:solidFill>
                <a:latin typeface="Arial" pitchFamily="34" charset="0"/>
                <a:ea typeface="Arial" pitchFamily="34" charset="-122"/>
                <a:cs typeface="Arial" pitchFamily="34" charset="-120"/>
              </a:rPr>
              <a:t>Analista RAN — pregunta por una celda</a:t>
            </a:r>
            <a:endParaRPr lang="en-US" sz="1100" dirty="0"/>
          </a:p>
        </p:txBody>
      </p:sp>
      <p:sp>
        <p:nvSpPr>
          <p:cNvPr id="14" name="Shape 12"/>
          <p:cNvSpPr/>
          <p:nvPr/>
        </p:nvSpPr>
        <p:spPr>
          <a:xfrm>
            <a:off x="6099048" y="1938528"/>
            <a:ext cx="0" cy="292608"/>
          </a:xfrm>
          <a:prstGeom prst="line">
            <a:avLst/>
          </a:prstGeom>
          <a:noFill/>
          <a:ln w="15875">
            <a:solidFill>
              <a:srgbClr val="8C8C8C"/>
            </a:solidFill>
            <a:prstDash val="solid"/>
            <a:tailEnd type="triangle"/>
          </a:ln>
        </p:spPr>
      </p:sp>
      <p:sp>
        <p:nvSpPr>
          <p:cNvPr id="15" name="Shape 13"/>
          <p:cNvSpPr/>
          <p:nvPr/>
        </p:nvSpPr>
        <p:spPr>
          <a:xfrm>
            <a:off x="3950208" y="2231136"/>
            <a:ext cx="4297680" cy="457200"/>
          </a:xfrm>
          <a:prstGeom prst="rect">
            <a:avLst/>
          </a:prstGeom>
          <a:solidFill>
            <a:srgbClr val="FFFFFF"/>
          </a:solidFill>
          <a:ln w="12700">
            <a:solidFill>
              <a:srgbClr val="595959"/>
            </a:solidFill>
            <a:prstDash val="solid"/>
          </a:ln>
        </p:spPr>
      </p:sp>
      <p:sp>
        <p:nvSpPr>
          <p:cNvPr id="16" name="Text 14"/>
          <p:cNvSpPr/>
          <p:nvPr/>
        </p:nvSpPr>
        <p:spPr>
          <a:xfrm>
            <a:off x="4023360" y="2231136"/>
            <a:ext cx="4151376" cy="457200"/>
          </a:xfrm>
          <a:prstGeom prst="rect">
            <a:avLst/>
          </a:prstGeom>
          <a:noFill/>
          <a:ln/>
        </p:spPr>
        <p:txBody>
          <a:bodyPr wrap="square" lIns="0" tIns="0" rIns="0" bIns="0" rtlCol="0" anchor="ctr"/>
          <a:lstStyle/>
          <a:p>
            <a:pPr algn="ctr" indent="0" marL="0">
              <a:lnSpc>
                <a:spcPct val="92000"/>
              </a:lnSpc>
              <a:buNone/>
            </a:pPr>
            <a:r>
              <a:rPr lang="en-US" sz="1100" b="1" dirty="0">
                <a:solidFill>
                  <a:srgbClr val="1A1A1A"/>
                </a:solidFill>
                <a:latin typeface="Arial" pitchFamily="34" charset="0"/>
                <a:ea typeface="Arial" pitchFamily="34" charset="-122"/>
                <a:cs typeface="Arial" pitchFamily="34" charset="-120"/>
              </a:rPr>
              <a:t>Coordinador — reparte la consulta</a:t>
            </a:r>
            <a:endParaRPr lang="en-US" sz="1100" dirty="0"/>
          </a:p>
        </p:txBody>
      </p:sp>
      <p:sp>
        <p:nvSpPr>
          <p:cNvPr id="17" name="Shape 15"/>
          <p:cNvSpPr/>
          <p:nvPr/>
        </p:nvSpPr>
        <p:spPr>
          <a:xfrm>
            <a:off x="2148840" y="2889504"/>
            <a:ext cx="7891272" cy="0"/>
          </a:xfrm>
          <a:prstGeom prst="line">
            <a:avLst/>
          </a:prstGeom>
          <a:noFill/>
          <a:ln w="15875">
            <a:solidFill>
              <a:srgbClr val="8C8C8C"/>
            </a:solidFill>
            <a:prstDash val="solid"/>
          </a:ln>
        </p:spPr>
      </p:sp>
      <p:sp>
        <p:nvSpPr>
          <p:cNvPr id="18" name="Shape 16"/>
          <p:cNvSpPr/>
          <p:nvPr/>
        </p:nvSpPr>
        <p:spPr>
          <a:xfrm>
            <a:off x="6099048" y="2688336"/>
            <a:ext cx="0" cy="201168"/>
          </a:xfrm>
          <a:prstGeom prst="line">
            <a:avLst/>
          </a:prstGeom>
          <a:noFill/>
          <a:ln w="15875">
            <a:solidFill>
              <a:srgbClr val="8C8C8C"/>
            </a:solidFill>
            <a:prstDash val="solid"/>
          </a:ln>
        </p:spPr>
      </p:sp>
      <p:sp>
        <p:nvSpPr>
          <p:cNvPr id="19" name="Shape 17"/>
          <p:cNvSpPr/>
          <p:nvPr/>
        </p:nvSpPr>
        <p:spPr>
          <a:xfrm>
            <a:off x="2148840" y="2889504"/>
            <a:ext cx="0" cy="274320"/>
          </a:xfrm>
          <a:prstGeom prst="line">
            <a:avLst/>
          </a:prstGeom>
          <a:noFill/>
          <a:ln w="15875">
            <a:solidFill>
              <a:srgbClr val="8C8C8C"/>
            </a:solidFill>
            <a:prstDash val="solid"/>
            <a:tailEnd type="triangle"/>
          </a:ln>
        </p:spPr>
      </p:sp>
      <p:sp>
        <p:nvSpPr>
          <p:cNvPr id="20" name="Shape 18"/>
          <p:cNvSpPr/>
          <p:nvPr/>
        </p:nvSpPr>
        <p:spPr>
          <a:xfrm>
            <a:off x="6099048" y="2889504"/>
            <a:ext cx="0" cy="274320"/>
          </a:xfrm>
          <a:prstGeom prst="line">
            <a:avLst/>
          </a:prstGeom>
          <a:noFill/>
          <a:ln w="15875">
            <a:solidFill>
              <a:srgbClr val="8C8C8C"/>
            </a:solidFill>
            <a:prstDash val="solid"/>
            <a:tailEnd type="triangle"/>
          </a:ln>
        </p:spPr>
      </p:sp>
      <p:sp>
        <p:nvSpPr>
          <p:cNvPr id="21" name="Shape 19"/>
          <p:cNvSpPr/>
          <p:nvPr/>
        </p:nvSpPr>
        <p:spPr>
          <a:xfrm>
            <a:off x="10040112" y="2889504"/>
            <a:ext cx="0" cy="274320"/>
          </a:xfrm>
          <a:prstGeom prst="line">
            <a:avLst/>
          </a:prstGeom>
          <a:noFill/>
          <a:ln w="15875">
            <a:solidFill>
              <a:srgbClr val="8C8C8C"/>
            </a:solidFill>
            <a:prstDash val="solid"/>
            <a:tailEnd type="triangle"/>
          </a:ln>
        </p:spPr>
      </p:sp>
      <p:sp>
        <p:nvSpPr>
          <p:cNvPr id="22" name="Shape 20"/>
          <p:cNvSpPr/>
          <p:nvPr/>
        </p:nvSpPr>
        <p:spPr>
          <a:xfrm>
            <a:off x="868680" y="3163824"/>
            <a:ext cx="2560320" cy="914400"/>
          </a:xfrm>
          <a:prstGeom prst="rect">
            <a:avLst/>
          </a:prstGeom>
          <a:solidFill>
            <a:srgbClr val="FFFFFF"/>
          </a:solidFill>
          <a:ln w="12700">
            <a:solidFill>
              <a:srgbClr val="595959"/>
            </a:solidFill>
            <a:prstDash val="solid"/>
          </a:ln>
        </p:spPr>
      </p:sp>
      <p:sp>
        <p:nvSpPr>
          <p:cNvPr id="23" name="Text 21"/>
          <p:cNvSpPr/>
          <p:nvPr/>
        </p:nvSpPr>
        <p:spPr>
          <a:xfrm>
            <a:off x="941832" y="3163824"/>
            <a:ext cx="2414016" cy="914400"/>
          </a:xfrm>
          <a:prstGeom prst="rect">
            <a:avLst/>
          </a:prstGeom>
          <a:noFill/>
          <a:ln/>
        </p:spPr>
        <p:txBody>
          <a:bodyPr wrap="square" lIns="0" tIns="0" rIns="0" bIns="0" rtlCol="0" anchor="ctr"/>
          <a:lstStyle/>
          <a:p>
            <a:pPr algn="ctr" indent="0" marL="0">
              <a:lnSpc>
                <a:spcPct val="92000"/>
              </a:lnSpc>
              <a:buNone/>
            </a:pPr>
            <a:r>
              <a:rPr lang="en-US" sz="1100" dirty="0">
                <a:solidFill>
                  <a:srgbClr val="333333"/>
                </a:solidFill>
                <a:latin typeface="Arial" pitchFamily="34" charset="0"/>
                <a:ea typeface="Arial" pitchFamily="34" charset="-122"/>
                <a:cs typeface="Arial" pitchFamily="34" charset="-120"/>
              </a:rPr>
              <a:t>Drops</a:t>
            </a:r>
            <a:endParaRPr lang="en-US" sz="1100" dirty="0"/>
          </a:p>
          <a:p>
            <a:pPr algn="ctr" indent="0" marL="0">
              <a:lnSpc>
                <a:spcPct val="92000"/>
              </a:lnSpc>
              <a:buNone/>
            </a:pPr>
            <a:endParaRPr lang="en-US" sz="1100" dirty="0"/>
          </a:p>
          <a:p>
            <a:pPr algn="ctr" indent="0" marL="0">
              <a:lnSpc>
                <a:spcPct val="92000"/>
              </a:lnSpc>
              <a:buNone/>
            </a:pPr>
            <a:r>
              <a:rPr lang="en-US" sz="1100" dirty="0">
                <a:solidFill>
                  <a:srgbClr val="333333"/>
                </a:solidFill>
                <a:latin typeface="Arial" pitchFamily="34" charset="0"/>
                <a:ea typeface="Arial" pitchFamily="34" charset="-122"/>
                <a:cs typeface="Arial" pitchFamily="34" charset="-120"/>
              </a:rPr>
              <a:t>Qué está fallando</a:t>
            </a:r>
            <a:endParaRPr lang="en-US" sz="1100" dirty="0"/>
          </a:p>
          <a:p>
            <a:pPr algn="ctr" indent="0" marL="0">
              <a:lnSpc>
                <a:spcPct val="92000"/>
              </a:lnSpc>
              <a:buNone/>
            </a:pPr>
            <a:r>
              <a:rPr lang="en-US" sz="1100" dirty="0">
                <a:solidFill>
                  <a:srgbClr val="333333"/>
                </a:solidFill>
                <a:latin typeface="Arial" pitchFamily="34" charset="0"/>
                <a:ea typeface="Arial" pitchFamily="34" charset="-122"/>
                <a:cs typeface="Arial" pitchFamily="34" charset="-120"/>
              </a:rPr>
              <a:t>en los contadores</a:t>
            </a:r>
            <a:endParaRPr lang="en-US" sz="1100" dirty="0"/>
          </a:p>
        </p:txBody>
      </p:sp>
      <p:sp>
        <p:nvSpPr>
          <p:cNvPr id="24" name="Shape 22"/>
          <p:cNvSpPr/>
          <p:nvPr/>
        </p:nvSpPr>
        <p:spPr>
          <a:xfrm>
            <a:off x="4818888" y="3163824"/>
            <a:ext cx="2560320" cy="914400"/>
          </a:xfrm>
          <a:prstGeom prst="rect">
            <a:avLst/>
          </a:prstGeom>
          <a:solidFill>
            <a:srgbClr val="FFFFFF"/>
          </a:solidFill>
          <a:ln w="12700">
            <a:solidFill>
              <a:srgbClr val="595959"/>
            </a:solidFill>
            <a:prstDash val="solid"/>
          </a:ln>
        </p:spPr>
      </p:sp>
      <p:sp>
        <p:nvSpPr>
          <p:cNvPr id="25" name="Text 23"/>
          <p:cNvSpPr/>
          <p:nvPr/>
        </p:nvSpPr>
        <p:spPr>
          <a:xfrm>
            <a:off x="4892040" y="3163824"/>
            <a:ext cx="2414016" cy="914400"/>
          </a:xfrm>
          <a:prstGeom prst="rect">
            <a:avLst/>
          </a:prstGeom>
          <a:noFill/>
          <a:ln/>
        </p:spPr>
        <p:txBody>
          <a:bodyPr wrap="square" lIns="0" tIns="0" rIns="0" bIns="0" rtlCol="0" anchor="ctr"/>
          <a:lstStyle/>
          <a:p>
            <a:pPr algn="ctr" indent="0" marL="0">
              <a:lnSpc>
                <a:spcPct val="92000"/>
              </a:lnSpc>
              <a:buNone/>
            </a:pPr>
            <a:r>
              <a:rPr lang="en-US" sz="1100" dirty="0">
                <a:solidFill>
                  <a:srgbClr val="333333"/>
                </a:solidFill>
                <a:latin typeface="Arial" pitchFamily="34" charset="0"/>
                <a:ea typeface="Arial" pitchFamily="34" charset="-122"/>
                <a:cs typeface="Arial" pitchFamily="34" charset="-120"/>
              </a:rPr>
              <a:t>Cobertura</a:t>
            </a:r>
            <a:endParaRPr lang="en-US" sz="1100" dirty="0"/>
          </a:p>
          <a:p>
            <a:pPr algn="ctr" indent="0" marL="0">
              <a:lnSpc>
                <a:spcPct val="92000"/>
              </a:lnSpc>
              <a:buNone/>
            </a:pPr>
            <a:endParaRPr lang="en-US" sz="1100" dirty="0"/>
          </a:p>
          <a:p>
            <a:pPr algn="ctr" indent="0" marL="0">
              <a:lnSpc>
                <a:spcPct val="92000"/>
              </a:lnSpc>
              <a:buNone/>
            </a:pPr>
            <a:r>
              <a:rPr lang="en-US" sz="1100" dirty="0">
                <a:solidFill>
                  <a:srgbClr val="333333"/>
                </a:solidFill>
                <a:latin typeface="Arial" pitchFamily="34" charset="0"/>
                <a:ea typeface="Arial" pitchFamily="34" charset="-122"/>
                <a:cs typeface="Arial" pitchFamily="34" charset="-120"/>
              </a:rPr>
              <a:t>Qué se ve</a:t>
            </a:r>
            <a:endParaRPr lang="en-US" sz="1100" dirty="0"/>
          </a:p>
          <a:p>
            <a:pPr algn="ctr" indent="0" marL="0">
              <a:lnSpc>
                <a:spcPct val="92000"/>
              </a:lnSpc>
              <a:buNone/>
            </a:pPr>
            <a:r>
              <a:rPr lang="en-US" sz="1100" dirty="0">
                <a:solidFill>
                  <a:srgbClr val="333333"/>
                </a:solidFill>
                <a:latin typeface="Arial" pitchFamily="34" charset="0"/>
                <a:ea typeface="Arial" pitchFamily="34" charset="-122"/>
                <a:cs typeface="Arial" pitchFamily="34" charset="-120"/>
              </a:rPr>
              <a:t>en el terreno</a:t>
            </a:r>
            <a:endParaRPr lang="en-US" sz="1100" dirty="0"/>
          </a:p>
        </p:txBody>
      </p:sp>
      <p:sp>
        <p:nvSpPr>
          <p:cNvPr id="26" name="Shape 24"/>
          <p:cNvSpPr/>
          <p:nvPr/>
        </p:nvSpPr>
        <p:spPr>
          <a:xfrm>
            <a:off x="8759952" y="3163824"/>
            <a:ext cx="2560320" cy="914400"/>
          </a:xfrm>
          <a:prstGeom prst="rect">
            <a:avLst/>
          </a:prstGeom>
          <a:solidFill>
            <a:srgbClr val="FFFFFF"/>
          </a:solidFill>
          <a:ln w="12700">
            <a:solidFill>
              <a:srgbClr val="595959"/>
            </a:solidFill>
            <a:prstDash val="solid"/>
          </a:ln>
        </p:spPr>
      </p:sp>
      <p:sp>
        <p:nvSpPr>
          <p:cNvPr id="27" name="Text 25"/>
          <p:cNvSpPr/>
          <p:nvPr/>
        </p:nvSpPr>
        <p:spPr>
          <a:xfrm>
            <a:off x="8833104" y="3163824"/>
            <a:ext cx="2414016" cy="914400"/>
          </a:xfrm>
          <a:prstGeom prst="rect">
            <a:avLst/>
          </a:prstGeom>
          <a:noFill/>
          <a:ln/>
        </p:spPr>
        <p:txBody>
          <a:bodyPr wrap="square" lIns="0" tIns="0" rIns="0" bIns="0" rtlCol="0" anchor="ctr"/>
          <a:lstStyle/>
          <a:p>
            <a:pPr algn="ctr" indent="0" marL="0">
              <a:lnSpc>
                <a:spcPct val="92000"/>
              </a:lnSpc>
              <a:buNone/>
            </a:pPr>
            <a:r>
              <a:rPr lang="en-US" sz="1100" dirty="0">
                <a:solidFill>
                  <a:srgbClr val="333333"/>
                </a:solidFill>
                <a:latin typeface="Arial" pitchFamily="34" charset="0"/>
                <a:ea typeface="Arial" pitchFamily="34" charset="-122"/>
                <a:cs typeface="Arial" pitchFamily="34" charset="-120"/>
              </a:rPr>
              <a:t>PCI / RSI</a:t>
            </a:r>
            <a:endParaRPr lang="en-US" sz="1100" dirty="0"/>
          </a:p>
          <a:p>
            <a:pPr algn="ctr" indent="0" marL="0">
              <a:lnSpc>
                <a:spcPct val="92000"/>
              </a:lnSpc>
              <a:buNone/>
            </a:pPr>
            <a:endParaRPr lang="en-US" sz="1100" dirty="0"/>
          </a:p>
          <a:p>
            <a:pPr algn="ctr" indent="0" marL="0">
              <a:lnSpc>
                <a:spcPct val="92000"/>
              </a:lnSpc>
              <a:buNone/>
            </a:pPr>
            <a:r>
              <a:rPr lang="en-US" sz="1100" dirty="0">
                <a:solidFill>
                  <a:srgbClr val="333333"/>
                </a:solidFill>
                <a:latin typeface="Arial" pitchFamily="34" charset="0"/>
                <a:ea typeface="Arial" pitchFamily="34" charset="-122"/>
                <a:cs typeface="Arial" pitchFamily="34" charset="-120"/>
              </a:rPr>
              <a:t>Si hay conflicto</a:t>
            </a:r>
            <a:endParaRPr lang="en-US" sz="1100" dirty="0"/>
          </a:p>
          <a:p>
            <a:pPr algn="ctr" indent="0" marL="0">
              <a:lnSpc>
                <a:spcPct val="92000"/>
              </a:lnSpc>
              <a:buNone/>
            </a:pPr>
            <a:r>
              <a:rPr lang="en-US" sz="1100" dirty="0">
                <a:solidFill>
                  <a:srgbClr val="333333"/>
                </a:solidFill>
                <a:latin typeface="Arial" pitchFamily="34" charset="0"/>
                <a:ea typeface="Arial" pitchFamily="34" charset="-122"/>
                <a:cs typeface="Arial" pitchFamily="34" charset="-120"/>
              </a:rPr>
              <a:t>de identidad</a:t>
            </a:r>
            <a:endParaRPr lang="en-US" sz="1100" dirty="0"/>
          </a:p>
        </p:txBody>
      </p:sp>
      <p:sp>
        <p:nvSpPr>
          <p:cNvPr id="28" name="Shape 26"/>
          <p:cNvSpPr/>
          <p:nvPr/>
        </p:nvSpPr>
        <p:spPr>
          <a:xfrm>
            <a:off x="2148840" y="4078224"/>
            <a:ext cx="0" cy="274320"/>
          </a:xfrm>
          <a:prstGeom prst="line">
            <a:avLst/>
          </a:prstGeom>
          <a:noFill/>
          <a:ln w="15875">
            <a:solidFill>
              <a:srgbClr val="8C8C8C"/>
            </a:solidFill>
            <a:prstDash val="solid"/>
          </a:ln>
        </p:spPr>
      </p:sp>
      <p:sp>
        <p:nvSpPr>
          <p:cNvPr id="29" name="Shape 27"/>
          <p:cNvSpPr/>
          <p:nvPr/>
        </p:nvSpPr>
        <p:spPr>
          <a:xfrm>
            <a:off x="6099048" y="4078224"/>
            <a:ext cx="0" cy="274320"/>
          </a:xfrm>
          <a:prstGeom prst="line">
            <a:avLst/>
          </a:prstGeom>
          <a:noFill/>
          <a:ln w="15875">
            <a:solidFill>
              <a:srgbClr val="8C8C8C"/>
            </a:solidFill>
            <a:prstDash val="solid"/>
          </a:ln>
        </p:spPr>
      </p:sp>
      <p:sp>
        <p:nvSpPr>
          <p:cNvPr id="30" name="Shape 28"/>
          <p:cNvSpPr/>
          <p:nvPr/>
        </p:nvSpPr>
        <p:spPr>
          <a:xfrm>
            <a:off x="10040112" y="4078224"/>
            <a:ext cx="0" cy="274320"/>
          </a:xfrm>
          <a:prstGeom prst="line">
            <a:avLst/>
          </a:prstGeom>
          <a:noFill/>
          <a:ln w="15875">
            <a:solidFill>
              <a:srgbClr val="8C8C8C"/>
            </a:solidFill>
            <a:prstDash val="solid"/>
          </a:ln>
        </p:spPr>
      </p:sp>
      <p:sp>
        <p:nvSpPr>
          <p:cNvPr id="31" name="Shape 29"/>
          <p:cNvSpPr/>
          <p:nvPr/>
        </p:nvSpPr>
        <p:spPr>
          <a:xfrm>
            <a:off x="2148840" y="4352544"/>
            <a:ext cx="7891272" cy="0"/>
          </a:xfrm>
          <a:prstGeom prst="line">
            <a:avLst/>
          </a:prstGeom>
          <a:noFill/>
          <a:ln w="15875">
            <a:solidFill>
              <a:srgbClr val="8C8C8C"/>
            </a:solidFill>
            <a:prstDash val="solid"/>
          </a:ln>
        </p:spPr>
      </p:sp>
      <p:sp>
        <p:nvSpPr>
          <p:cNvPr id="32" name="Shape 30"/>
          <p:cNvSpPr/>
          <p:nvPr/>
        </p:nvSpPr>
        <p:spPr>
          <a:xfrm>
            <a:off x="6099048" y="4352544"/>
            <a:ext cx="0" cy="219456"/>
          </a:xfrm>
          <a:prstGeom prst="line">
            <a:avLst/>
          </a:prstGeom>
          <a:noFill/>
          <a:ln w="15875">
            <a:solidFill>
              <a:srgbClr val="8C8C8C"/>
            </a:solidFill>
            <a:prstDash val="solid"/>
            <a:tailEnd type="triangle"/>
          </a:ln>
        </p:spPr>
      </p:sp>
      <p:sp>
        <p:nvSpPr>
          <p:cNvPr id="33" name="Shape 31"/>
          <p:cNvSpPr/>
          <p:nvPr/>
        </p:nvSpPr>
        <p:spPr>
          <a:xfrm>
            <a:off x="3310128" y="4572000"/>
            <a:ext cx="5577840" cy="457200"/>
          </a:xfrm>
          <a:prstGeom prst="rect">
            <a:avLst/>
          </a:prstGeom>
          <a:solidFill>
            <a:srgbClr val="FFFFFF"/>
          </a:solidFill>
          <a:ln w="12700">
            <a:solidFill>
              <a:srgbClr val="595959"/>
            </a:solidFill>
            <a:prstDash val="solid"/>
          </a:ln>
        </p:spPr>
      </p:sp>
      <p:sp>
        <p:nvSpPr>
          <p:cNvPr id="34" name="Text 32"/>
          <p:cNvSpPr/>
          <p:nvPr/>
        </p:nvSpPr>
        <p:spPr>
          <a:xfrm>
            <a:off x="3383280" y="4572000"/>
            <a:ext cx="5431536" cy="457200"/>
          </a:xfrm>
          <a:prstGeom prst="rect">
            <a:avLst/>
          </a:prstGeom>
          <a:noFill/>
          <a:ln/>
        </p:spPr>
        <p:txBody>
          <a:bodyPr wrap="square" lIns="0" tIns="0" rIns="0" bIns="0" rtlCol="0" anchor="ctr"/>
          <a:lstStyle/>
          <a:p>
            <a:pPr algn="ctr" indent="0" marL="0">
              <a:lnSpc>
                <a:spcPct val="92000"/>
              </a:lnSpc>
              <a:buNone/>
            </a:pPr>
            <a:r>
              <a:rPr lang="en-US" sz="1100" b="1" dirty="0">
                <a:solidFill>
                  <a:srgbClr val="1A1A1A"/>
                </a:solidFill>
                <a:latin typeface="Arial" pitchFamily="34" charset="0"/>
                <a:ea typeface="Arial" pitchFamily="34" charset="-122"/>
                <a:cs typeface="Arial" pitchFamily="34" charset="-120"/>
              </a:rPr>
              <a:t>Cruce de señales — regla escrita y revisable</a:t>
            </a:r>
            <a:endParaRPr lang="en-US" sz="1100" dirty="0"/>
          </a:p>
        </p:txBody>
      </p:sp>
      <p:sp>
        <p:nvSpPr>
          <p:cNvPr id="35" name="Shape 33"/>
          <p:cNvSpPr/>
          <p:nvPr/>
        </p:nvSpPr>
        <p:spPr>
          <a:xfrm>
            <a:off x="6099048" y="5029200"/>
            <a:ext cx="0" cy="219456"/>
          </a:xfrm>
          <a:prstGeom prst="line">
            <a:avLst/>
          </a:prstGeom>
          <a:noFill/>
          <a:ln w="15875">
            <a:solidFill>
              <a:srgbClr val="8C8C8C"/>
            </a:solidFill>
            <a:prstDash val="solid"/>
            <a:tailEnd type="triangle"/>
          </a:ln>
        </p:spPr>
      </p:sp>
      <p:sp>
        <p:nvSpPr>
          <p:cNvPr id="36" name="Shape 34"/>
          <p:cNvSpPr/>
          <p:nvPr/>
        </p:nvSpPr>
        <p:spPr>
          <a:xfrm>
            <a:off x="2487168" y="5248656"/>
            <a:ext cx="7223760" cy="457200"/>
          </a:xfrm>
          <a:prstGeom prst="rect">
            <a:avLst/>
          </a:prstGeom>
          <a:solidFill>
            <a:srgbClr val="FFFFFF"/>
          </a:solidFill>
          <a:ln w="12700">
            <a:solidFill>
              <a:srgbClr val="595959"/>
            </a:solidFill>
            <a:prstDash val="solid"/>
          </a:ln>
        </p:spPr>
      </p:sp>
      <p:sp>
        <p:nvSpPr>
          <p:cNvPr id="37" name="Text 35"/>
          <p:cNvSpPr/>
          <p:nvPr/>
        </p:nvSpPr>
        <p:spPr>
          <a:xfrm>
            <a:off x="2560320" y="5248656"/>
            <a:ext cx="7077456" cy="457200"/>
          </a:xfrm>
          <a:prstGeom prst="rect">
            <a:avLst/>
          </a:prstGeom>
          <a:noFill/>
          <a:ln/>
        </p:spPr>
        <p:txBody>
          <a:bodyPr wrap="square" lIns="0" tIns="0" rIns="0" bIns="0" rtlCol="0" anchor="ctr"/>
          <a:lstStyle/>
          <a:p>
            <a:pPr algn="ctr" indent="0" marL="0">
              <a:lnSpc>
                <a:spcPct val="92000"/>
              </a:lnSpc>
              <a:buNone/>
            </a:pPr>
            <a:r>
              <a:rPr lang="en-US" sz="1100" dirty="0">
                <a:solidFill>
                  <a:srgbClr val="333333"/>
                </a:solidFill>
                <a:latin typeface="Arial" pitchFamily="34" charset="0"/>
                <a:ea typeface="Arial" pitchFamily="34" charset="-122"/>
                <a:cs typeface="Arial" pitchFamily="34" charset="-120"/>
              </a:rPr>
              <a:t>Causa probable  ·  nivel de confianza  ·  acción sugerida</a:t>
            </a:r>
            <a:endParaRPr lang="en-US" sz="1100" dirty="0"/>
          </a:p>
        </p:txBody>
      </p:sp>
      <p:sp>
        <p:nvSpPr>
          <p:cNvPr id="38" name="Text 36"/>
          <p:cNvSpPr/>
          <p:nvPr/>
        </p:nvSpPr>
        <p:spPr>
          <a:xfrm>
            <a:off x="548640" y="5852160"/>
            <a:ext cx="10607040" cy="320040"/>
          </a:xfrm>
          <a:prstGeom prst="rect">
            <a:avLst/>
          </a:prstGeom>
          <a:noFill/>
          <a:ln/>
        </p:spPr>
        <p:txBody>
          <a:bodyPr wrap="square" lIns="0" tIns="0" rIns="0" bIns="0" rtlCol="0" anchor="ctr"/>
          <a:lstStyle/>
          <a:p>
            <a:pPr algn="l" indent="0" marL="0">
              <a:buNone/>
            </a:pPr>
            <a:r>
              <a:rPr lang="en-US" sz="1100" dirty="0">
                <a:solidFill>
                  <a:srgbClr val="6B6B6B"/>
                </a:solidFill>
                <a:latin typeface="Arial" pitchFamily="34" charset="0"/>
                <a:ea typeface="Arial" pitchFamily="34" charset="-122"/>
                <a:cs typeface="Arial" pitchFamily="34" charset="-120"/>
              </a:rPr>
              <a:t>El modelo de lenguaje entiende la pregunta y redacta la respuesta. La conclusión la fija la regla: ante el mismo caso, la misma salida.</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783080" cy="155448"/>
          </a:xfrm>
          <a:prstGeom prst="rect">
            <a:avLst/>
          </a:prstGeom>
          <a:solidFill>
            <a:srgbClr val="A8C93B"/>
          </a:solidFill>
          <a:ln w="12700">
            <a:solidFill>
              <a:srgbClr val="A8C93B"/>
            </a:solidFill>
            <a:prstDash val="solid"/>
          </a:ln>
        </p:spPr>
      </p:sp>
      <p:sp>
        <p:nvSpPr>
          <p:cNvPr id="3" name="Shape 1"/>
          <p:cNvSpPr/>
          <p:nvPr/>
        </p:nvSpPr>
        <p:spPr>
          <a:xfrm>
            <a:off x="1783080" y="0"/>
            <a:ext cx="2752344" cy="155448"/>
          </a:xfrm>
          <a:prstGeom prst="rect">
            <a:avLst/>
          </a:prstGeom>
          <a:solidFill>
            <a:srgbClr val="E77B26"/>
          </a:solidFill>
          <a:ln w="12700">
            <a:solidFill>
              <a:srgbClr val="E77B26"/>
            </a:solidFill>
            <a:prstDash val="solid"/>
          </a:ln>
        </p:spPr>
      </p:sp>
      <p:sp>
        <p:nvSpPr>
          <p:cNvPr id="4" name="Shape 2"/>
          <p:cNvSpPr/>
          <p:nvPr/>
        </p:nvSpPr>
        <p:spPr>
          <a:xfrm>
            <a:off x="4535424" y="0"/>
            <a:ext cx="2734056" cy="155448"/>
          </a:xfrm>
          <a:prstGeom prst="rect">
            <a:avLst/>
          </a:prstGeom>
          <a:solidFill>
            <a:srgbClr val="F2A81D"/>
          </a:solidFill>
          <a:ln w="12700">
            <a:solidFill>
              <a:srgbClr val="F2A81D"/>
            </a:solidFill>
            <a:prstDash val="solid"/>
          </a:ln>
        </p:spPr>
      </p:sp>
      <p:sp>
        <p:nvSpPr>
          <p:cNvPr id="5" name="Shape 3"/>
          <p:cNvSpPr/>
          <p:nvPr/>
        </p:nvSpPr>
        <p:spPr>
          <a:xfrm>
            <a:off x="7269480" y="0"/>
            <a:ext cx="2734056" cy="155448"/>
          </a:xfrm>
          <a:prstGeom prst="rect">
            <a:avLst/>
          </a:prstGeom>
          <a:solidFill>
            <a:srgbClr val="E23A26"/>
          </a:solidFill>
          <a:ln w="12700">
            <a:solidFill>
              <a:srgbClr val="E23A26"/>
            </a:solidFill>
            <a:prstDash val="solid"/>
          </a:ln>
        </p:spPr>
      </p:sp>
      <p:sp>
        <p:nvSpPr>
          <p:cNvPr id="6" name="Shape 4"/>
          <p:cNvSpPr/>
          <p:nvPr/>
        </p:nvSpPr>
        <p:spPr>
          <a:xfrm>
            <a:off x="10003536" y="0"/>
            <a:ext cx="2185416" cy="155448"/>
          </a:xfrm>
          <a:prstGeom prst="rect">
            <a:avLst/>
          </a:prstGeom>
          <a:solidFill>
            <a:srgbClr val="79C3E4"/>
          </a:solidFill>
          <a:ln w="12700">
            <a:solidFill>
              <a:srgbClr val="79C3E4"/>
            </a:solidFill>
            <a:prstDash val="solid"/>
          </a:ln>
        </p:spPr>
      </p:sp>
      <p:sp>
        <p:nvSpPr>
          <p:cNvPr id="7" name="Shape 5"/>
          <p:cNvSpPr/>
          <p:nvPr/>
        </p:nvSpPr>
        <p:spPr>
          <a:xfrm>
            <a:off x="11356848" y="6053328"/>
            <a:ext cx="512064" cy="512064"/>
          </a:xfrm>
          <a:prstGeom prst="ellipse">
            <a:avLst/>
          </a:prstGeom>
          <a:solidFill>
            <a:srgbClr val="D8261C"/>
          </a:solidFill>
          <a:ln w="12700">
            <a:solidFill>
              <a:srgbClr val="D8261C"/>
            </a:solidFill>
            <a:prstDash val="solid"/>
          </a:ln>
        </p:spPr>
      </p:sp>
      <p:sp>
        <p:nvSpPr>
          <p:cNvPr id="8" name="Text 6"/>
          <p:cNvSpPr/>
          <p:nvPr/>
        </p:nvSpPr>
        <p:spPr>
          <a:xfrm>
            <a:off x="11356848" y="6053328"/>
            <a:ext cx="512064" cy="51206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Claro</a:t>
            </a:r>
            <a:endParaRPr lang="en-US" sz="900" dirty="0"/>
          </a:p>
        </p:txBody>
      </p:sp>
      <p:sp>
        <p:nvSpPr>
          <p:cNvPr id="9" name="Text 7"/>
          <p:cNvSpPr/>
          <p:nvPr/>
        </p:nvSpPr>
        <p:spPr>
          <a:xfrm>
            <a:off x="548640" y="6263640"/>
            <a:ext cx="914400" cy="274320"/>
          </a:xfrm>
          <a:prstGeom prst="rect">
            <a:avLst/>
          </a:prstGeom>
          <a:noFill/>
          <a:ln/>
        </p:spPr>
        <p:txBody>
          <a:bodyPr wrap="square" lIns="0" tIns="0" rIns="0" bIns="0" rtlCol="0" anchor="ctr"/>
          <a:lstStyle/>
          <a:p>
            <a:pPr algn="l" indent="0" marL="0">
              <a:buNone/>
            </a:pPr>
            <a:r>
              <a:rPr lang="en-US" sz="900" dirty="0">
                <a:solidFill>
                  <a:srgbClr val="6B6B6B"/>
                </a:solidFill>
                <a:latin typeface="Arial" pitchFamily="34" charset="0"/>
                <a:ea typeface="Arial" pitchFamily="34" charset="-122"/>
                <a:cs typeface="Arial" pitchFamily="34" charset="-120"/>
              </a:rPr>
              <a:t>5</a:t>
            </a:r>
            <a:endParaRPr lang="en-US" sz="900" dirty="0"/>
          </a:p>
        </p:txBody>
      </p:sp>
      <p:sp>
        <p:nvSpPr>
          <p:cNvPr id="10" name="Text 8"/>
          <p:cNvSpPr/>
          <p:nvPr/>
        </p:nvSpPr>
        <p:spPr>
          <a:xfrm>
            <a:off x="548640" y="384048"/>
            <a:ext cx="11091672" cy="457200"/>
          </a:xfrm>
          <a:prstGeom prst="rect">
            <a:avLst/>
          </a:prstGeom>
          <a:noFill/>
          <a:ln/>
        </p:spPr>
        <p:txBody>
          <a:bodyPr wrap="square" lIns="0" tIns="0" rIns="0" bIns="0" rtlCol="0" anchor="ctr"/>
          <a:lstStyle/>
          <a:p>
            <a:pPr algn="ctr" indent="0" marL="0">
              <a:buNone/>
            </a:pPr>
            <a:r>
              <a:rPr lang="en-US" sz="2400" b="1" dirty="0">
                <a:solidFill>
                  <a:srgbClr val="1A1A1A"/>
                </a:solidFill>
                <a:latin typeface="Arial" pitchFamily="34" charset="0"/>
                <a:ea typeface="Arial" pitchFamily="34" charset="-122"/>
                <a:cs typeface="Arial" pitchFamily="34" charset="-120"/>
              </a:rPr>
              <a:t>Qué aporta cada especialista</a:t>
            </a:r>
            <a:endParaRPr lang="en-US" sz="2400" dirty="0"/>
          </a:p>
        </p:txBody>
      </p:sp>
      <p:sp>
        <p:nvSpPr>
          <p:cNvPr id="11" name="Text 9"/>
          <p:cNvSpPr/>
          <p:nvPr/>
        </p:nvSpPr>
        <p:spPr>
          <a:xfrm>
            <a:off x="548640" y="932688"/>
            <a:ext cx="11091672" cy="384048"/>
          </a:xfrm>
          <a:prstGeom prst="rect">
            <a:avLst/>
          </a:prstGeom>
          <a:noFill/>
          <a:ln/>
        </p:spPr>
        <p:txBody>
          <a:bodyPr wrap="square" lIns="0" tIns="0" rIns="0" bIns="0" rtlCol="0" anchor="ctr"/>
          <a:lstStyle/>
          <a:p>
            <a:pPr algn="l" indent="0" marL="0">
              <a:buNone/>
            </a:pPr>
            <a:r>
              <a:rPr lang="en-US" sz="1250" dirty="0">
                <a:solidFill>
                  <a:srgbClr val="333333"/>
                </a:solidFill>
                <a:latin typeface="Arial" pitchFamily="34" charset="0"/>
                <a:ea typeface="Arial" pitchFamily="34" charset="-122"/>
                <a:cs typeface="Arial" pitchFamily="34" charset="-120"/>
              </a:rPr>
              <a:t>Cada dominio tiene un límite distinto. Solo uno puede proponer una corrección; los otros dos son de lectura.</a:t>
            </a:r>
            <a:endParaRPr lang="en-US" sz="12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914400"/>
        </p:xfrm>
        <a:graphic>
          <a:graphicData uri="http://schemas.openxmlformats.org/drawingml/2006/table">
            <a:tbl>
              <a:tblPr/>
              <a:tblGrid>
                <a:gridCol w="2240280"/>
                <a:gridCol w="5394960"/>
                <a:gridCol w="3456432"/>
              </a:tblGrid>
              <a:tr h="411480">
                <a:tc>
                  <a:txBody>
                    <a:bodyPr/>
                    <a:lstStyle/>
                    <a:p>
                      <a:pPr indent="0" marL="0">
                        <a:buNone/>
                      </a:pPr>
                      <a:r>
                        <a:rPr lang="en-US" sz="1100" b="1" dirty="0">
                          <a:solidFill>
                            <a:srgbClr val="1A1A1A"/>
                          </a:solidFill>
                          <a:latin typeface="Arial" pitchFamily="34" charset="0"/>
                          <a:ea typeface="Arial" pitchFamily="34" charset="-122"/>
                          <a:cs typeface="Arial" pitchFamily="34" charset="-120"/>
                        </a:rPr>
                        <a:t>Especialista</a:t>
                      </a:r>
                      <a:endParaRPr lang="en-US" sz="110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EDED"/>
                    </a:solidFill>
                  </a:tcPr>
                </a:tc>
                <a:tc>
                  <a:txBody>
                    <a:bodyPr/>
                    <a:lstStyle/>
                    <a:p>
                      <a:pPr indent="0" marL="0">
                        <a:buNone/>
                      </a:pPr>
                      <a:r>
                        <a:rPr lang="en-US" sz="1100" b="1" dirty="0">
                          <a:solidFill>
                            <a:srgbClr val="1A1A1A"/>
                          </a:solidFill>
                          <a:latin typeface="Arial" pitchFamily="34" charset="0"/>
                          <a:ea typeface="Arial" pitchFamily="34" charset="-122"/>
                          <a:cs typeface="Arial" pitchFamily="34" charset="-120"/>
                        </a:rPr>
                        <a:t>Qué aporta</a:t>
                      </a:r>
                      <a:endParaRPr lang="en-US" sz="110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EDED"/>
                    </a:solidFill>
                  </a:tcPr>
                </a:tc>
                <a:tc>
                  <a:txBody>
                    <a:bodyPr/>
                    <a:lstStyle/>
                    <a:p>
                      <a:pPr indent="0" marL="0">
                        <a:buNone/>
                      </a:pPr>
                      <a:r>
                        <a:rPr lang="en-US" sz="1100" b="1" dirty="0">
                          <a:solidFill>
                            <a:srgbClr val="1A1A1A"/>
                          </a:solidFill>
                          <a:latin typeface="Arial" pitchFamily="34" charset="0"/>
                          <a:ea typeface="Arial" pitchFamily="34" charset="-122"/>
                          <a:cs typeface="Arial" pitchFamily="34" charset="-120"/>
                        </a:rPr>
                        <a:t>Hasta dónde llega</a:t>
                      </a:r>
                      <a:endParaRPr lang="en-US" sz="110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EDED"/>
                    </a:solidFill>
                  </a:tcPr>
                </a:tc>
              </a:tr>
              <a:tr h="960120">
                <a:tc>
                  <a:txBody>
                    <a:bodyPr/>
                    <a:lstStyle/>
                    <a:p>
                      <a:pPr indent="0" marL="0">
                        <a:buNone/>
                      </a:pPr>
                      <a:r>
                        <a:rPr lang="en-US" sz="1100" b="1" dirty="0">
                          <a:solidFill>
                            <a:srgbClr val="333333"/>
                          </a:solidFill>
                          <a:latin typeface="Arial" pitchFamily="34" charset="0"/>
                          <a:ea typeface="Arial" pitchFamily="34" charset="-122"/>
                          <a:cs typeface="Arial" pitchFamily="34" charset="-120"/>
                        </a:rPr>
                        <a:t>Drops</a:t>
                      </a:r>
                      <a:endParaRPr lang="en-US" sz="1100" dirty="0">
                        <a:latin typeface="Arial" charset="0"/>
                        <a:ea typeface="Arial" charset="0"/>
                        <a:cs typeface="Arial" charset="0"/>
                      </a:endParaRPr>
                    </a:p>
                    <a:p>
                      <a:pPr indent="0" marL="0">
                        <a:buNone/>
                      </a:pPr>
                      <a:r>
                        <a:rPr lang="en-US" sz="1100" b="1" dirty="0">
                          <a:solidFill>
                            <a:srgbClr val="333333"/>
                          </a:solidFill>
                          <a:latin typeface="Arial" pitchFamily="34" charset="0"/>
                          <a:ea typeface="Arial" pitchFamily="34" charset="-122"/>
                          <a:cs typeface="Arial" pitchFamily="34" charset="-120"/>
                        </a:rPr>
                        <a:t>(contadores)</a:t>
                      </a:r>
                      <a:endParaRPr lang="en-US" sz="110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7F7"/>
                    </a:solidFill>
                  </a:tcPr>
                </a:tc>
                <a:tc>
                  <a:txBody>
                    <a:bodyPr/>
                    <a:lstStyle/>
                    <a:p>
                      <a:pPr indent="0" marL="0">
                        <a:buNone/>
                      </a:pPr>
                      <a:r>
                        <a:rPr lang="en-US" sz="1100" dirty="0">
                          <a:solidFill>
                            <a:srgbClr val="333333"/>
                          </a:solidFill>
                          <a:latin typeface="Arial" pitchFamily="34" charset="0"/>
                          <a:ea typeface="Arial" pitchFamily="34" charset="-122"/>
                          <a:cs typeface="Arial" pitchFamily="34" charset="-120"/>
                        </a:rPr>
                        <a:t>Detecta la anomalía de retenibilidad y su causa dominante: accesos fallidos, degradación de cobertura, handover, transporte</a:t>
                      </a:r>
                      <a:endParaRPr lang="en-US" sz="110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7F7"/>
                    </a:solidFill>
                  </a:tcPr>
                </a:tc>
                <a:tc>
                  <a:txBody>
                    <a:bodyPr/>
                    <a:lstStyle/>
                    <a:p>
                      <a:pPr indent="0" marL="0">
                        <a:buNone/>
                      </a:pPr>
                      <a:r>
                        <a:rPr lang="en-US" sz="1100" dirty="0">
                          <a:solidFill>
                            <a:srgbClr val="333333"/>
                          </a:solidFill>
                          <a:latin typeface="Arial" pitchFamily="34" charset="0"/>
                          <a:ea typeface="Arial" pitchFamily="34" charset="-122"/>
                          <a:cs typeface="Arial" pitchFamily="34" charset="-120"/>
                        </a:rPr>
                        <a:t>Detecta. Es el síntoma: acá no hay nada que corregir</a:t>
                      </a:r>
                      <a:endParaRPr lang="en-US" sz="110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7F7"/>
                    </a:solidFill>
                  </a:tcPr>
                </a:tc>
              </a:tr>
              <a:tr h="960120">
                <a:tc>
                  <a:txBody>
                    <a:bodyPr/>
                    <a:lstStyle/>
                    <a:p>
                      <a:pPr indent="0" marL="0">
                        <a:buNone/>
                      </a:pPr>
                      <a:r>
                        <a:rPr lang="en-US" sz="1100" b="1" dirty="0">
                          <a:solidFill>
                            <a:srgbClr val="333333"/>
                          </a:solidFill>
                          <a:latin typeface="Arial" pitchFamily="34" charset="0"/>
                          <a:ea typeface="Arial" pitchFamily="34" charset="-122"/>
                          <a:cs typeface="Arial" pitchFamily="34" charset="-120"/>
                        </a:rPr>
                        <a:t>Cobertura</a:t>
                      </a:r>
                      <a:endParaRPr lang="en-US" sz="1100" dirty="0">
                        <a:latin typeface="Arial" charset="0"/>
                        <a:ea typeface="Arial" charset="0"/>
                        <a:cs typeface="Arial" charset="0"/>
                      </a:endParaRPr>
                    </a:p>
                    <a:p>
                      <a:pPr indent="0" marL="0">
                        <a:buNone/>
                      </a:pPr>
                      <a:r>
                        <a:rPr lang="en-US" sz="1100" b="1" dirty="0">
                          <a:solidFill>
                            <a:srgbClr val="333333"/>
                          </a:solidFill>
                          <a:latin typeface="Arial" pitchFamily="34" charset="0"/>
                          <a:ea typeface="Arial" pitchFamily="34" charset="-122"/>
                          <a:cs typeface="Arial" pitchFamily="34" charset="-120"/>
                        </a:rPr>
                        <a:t>(geolocalización)</a:t>
                      </a:r>
                      <a:endParaRPr lang="en-US" sz="110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00" dirty="0">
                          <a:solidFill>
                            <a:srgbClr val="333333"/>
                          </a:solidFill>
                          <a:latin typeface="Arial" pitchFamily="34" charset="0"/>
                          <a:ea typeface="Arial" pitchFamily="34" charset="-122"/>
                          <a:cs typeface="Arial" pitchFamily="34" charset="-120"/>
                        </a:rPr>
                        <a:t>Valida contra el terreno: huecos de cobertura, celdas sirviendo más lejos de su radio de diseño, exceso de celdas dominantes</a:t>
                      </a:r>
                      <a:endParaRPr lang="en-US" sz="110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00" dirty="0">
                          <a:solidFill>
                            <a:srgbClr val="333333"/>
                          </a:solidFill>
                          <a:latin typeface="Arial" pitchFamily="34" charset="0"/>
                          <a:ea typeface="Arial" pitchFamily="34" charset="-122"/>
                          <a:cs typeface="Arial" pitchFamily="34" charset="-120"/>
                        </a:rPr>
                        <a:t>Solo lectura. Deriva una recomendación al equipo de RF con la evidencia</a:t>
                      </a:r>
                      <a:endParaRPr lang="en-US" sz="110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960120">
                <a:tc>
                  <a:txBody>
                    <a:bodyPr/>
                    <a:lstStyle/>
                    <a:p>
                      <a:pPr indent="0" marL="0">
                        <a:buNone/>
                      </a:pPr>
                      <a:r>
                        <a:rPr lang="en-US" sz="1100" b="1" dirty="0">
                          <a:solidFill>
                            <a:srgbClr val="333333"/>
                          </a:solidFill>
                          <a:latin typeface="Arial" pitchFamily="34" charset="0"/>
                          <a:ea typeface="Arial" pitchFamily="34" charset="-122"/>
                          <a:cs typeface="Arial" pitchFamily="34" charset="-120"/>
                        </a:rPr>
                        <a:t>PCI / RSI</a:t>
                      </a:r>
                      <a:endParaRPr lang="en-US" sz="110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7F7"/>
                    </a:solidFill>
                  </a:tcPr>
                </a:tc>
                <a:tc>
                  <a:txBody>
                    <a:bodyPr/>
                    <a:lstStyle/>
                    <a:p>
                      <a:pPr indent="0" marL="0">
                        <a:buNone/>
                      </a:pPr>
                      <a:r>
                        <a:rPr lang="en-US" sz="1100" dirty="0">
                          <a:solidFill>
                            <a:srgbClr val="333333"/>
                          </a:solidFill>
                          <a:latin typeface="Arial" pitchFamily="34" charset="0"/>
                          <a:ea typeface="Arial" pitchFamily="34" charset="-122"/>
                          <a:cs typeface="Arial" pitchFamily="34" charset="-120"/>
                        </a:rPr>
                        <a:t>Valida conflictos de identidad entre celdas: colisión, confusión y mod 3 contra la red existente</a:t>
                      </a:r>
                      <a:endParaRPr lang="en-US" sz="110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7F7"/>
                    </a:solidFill>
                  </a:tcPr>
                </a:tc>
                <a:tc>
                  <a:txBody>
                    <a:bodyPr/>
                    <a:lstStyle/>
                    <a:p>
                      <a:pPr indent="0" marL="0">
                        <a:buNone/>
                      </a:pPr>
                      <a:r>
                        <a:rPr lang="en-US" sz="1100" dirty="0">
                          <a:solidFill>
                            <a:srgbClr val="333333"/>
                          </a:solidFill>
                          <a:latin typeface="Arial" pitchFamily="34" charset="0"/>
                          <a:ea typeface="Arial" pitchFamily="34" charset="-122"/>
                          <a:cs typeface="Arial" pitchFamily="34" charset="-120"/>
                        </a:rPr>
                        <a:t>Valida y propone la corrección. Es el único que puede actuar sobre la red</a:t>
                      </a:r>
                      <a:endParaRPr lang="en-US" sz="110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7F7"/>
                    </a:solidFill>
                  </a:tcPr>
                </a:tc>
              </a:tr>
            </a:tbl>
          </a:graphicData>
        </a:graphic>
      </p:graphicFrame>
      <p:sp>
        <p:nvSpPr>
          <p:cNvPr id="13" name="Text 10"/>
          <p:cNvSpPr/>
          <p:nvPr/>
        </p:nvSpPr>
        <p:spPr>
          <a:xfrm>
            <a:off x="548640" y="5166360"/>
            <a:ext cx="11091672" cy="365760"/>
          </a:xfrm>
          <a:prstGeom prst="rect">
            <a:avLst/>
          </a:prstGeom>
          <a:noFill/>
          <a:ln/>
        </p:spPr>
        <p:txBody>
          <a:bodyPr wrap="square" lIns="0" tIns="0" rIns="0" bIns="0" rtlCol="0" anchor="ctr"/>
          <a:lstStyle/>
          <a:p>
            <a:pPr algn="l" indent="0" marL="0">
              <a:buNone/>
            </a:pPr>
            <a:r>
              <a:rPr lang="en-US" sz="1100" dirty="0">
                <a:solidFill>
                  <a:srgbClr val="6B6B6B"/>
                </a:solidFill>
                <a:latin typeface="Arial" pitchFamily="34" charset="0"/>
                <a:ea typeface="Arial" pitchFamily="34" charset="-122"/>
                <a:cs typeface="Arial" pitchFamily="34" charset="-120"/>
              </a:rPr>
              <a:t>Los cambios de RF —tilt, potencia, azimut— se siguen ejecutando en las herramientas del proveedor. El agente aporta el caso armado, no el cambio.</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783080" cy="155448"/>
          </a:xfrm>
          <a:prstGeom prst="rect">
            <a:avLst/>
          </a:prstGeom>
          <a:solidFill>
            <a:srgbClr val="A8C93B"/>
          </a:solidFill>
          <a:ln w="12700">
            <a:solidFill>
              <a:srgbClr val="A8C93B"/>
            </a:solidFill>
            <a:prstDash val="solid"/>
          </a:ln>
        </p:spPr>
      </p:sp>
      <p:sp>
        <p:nvSpPr>
          <p:cNvPr id="3" name="Shape 1"/>
          <p:cNvSpPr/>
          <p:nvPr/>
        </p:nvSpPr>
        <p:spPr>
          <a:xfrm>
            <a:off x="1783080" y="0"/>
            <a:ext cx="2752344" cy="155448"/>
          </a:xfrm>
          <a:prstGeom prst="rect">
            <a:avLst/>
          </a:prstGeom>
          <a:solidFill>
            <a:srgbClr val="E77B26"/>
          </a:solidFill>
          <a:ln w="12700">
            <a:solidFill>
              <a:srgbClr val="E77B26"/>
            </a:solidFill>
            <a:prstDash val="solid"/>
          </a:ln>
        </p:spPr>
      </p:sp>
      <p:sp>
        <p:nvSpPr>
          <p:cNvPr id="4" name="Shape 2"/>
          <p:cNvSpPr/>
          <p:nvPr/>
        </p:nvSpPr>
        <p:spPr>
          <a:xfrm>
            <a:off x="4535424" y="0"/>
            <a:ext cx="2734056" cy="155448"/>
          </a:xfrm>
          <a:prstGeom prst="rect">
            <a:avLst/>
          </a:prstGeom>
          <a:solidFill>
            <a:srgbClr val="F2A81D"/>
          </a:solidFill>
          <a:ln w="12700">
            <a:solidFill>
              <a:srgbClr val="F2A81D"/>
            </a:solidFill>
            <a:prstDash val="solid"/>
          </a:ln>
        </p:spPr>
      </p:sp>
      <p:sp>
        <p:nvSpPr>
          <p:cNvPr id="5" name="Shape 3"/>
          <p:cNvSpPr/>
          <p:nvPr/>
        </p:nvSpPr>
        <p:spPr>
          <a:xfrm>
            <a:off x="7269480" y="0"/>
            <a:ext cx="2734056" cy="155448"/>
          </a:xfrm>
          <a:prstGeom prst="rect">
            <a:avLst/>
          </a:prstGeom>
          <a:solidFill>
            <a:srgbClr val="E23A26"/>
          </a:solidFill>
          <a:ln w="12700">
            <a:solidFill>
              <a:srgbClr val="E23A26"/>
            </a:solidFill>
            <a:prstDash val="solid"/>
          </a:ln>
        </p:spPr>
      </p:sp>
      <p:sp>
        <p:nvSpPr>
          <p:cNvPr id="6" name="Shape 4"/>
          <p:cNvSpPr/>
          <p:nvPr/>
        </p:nvSpPr>
        <p:spPr>
          <a:xfrm>
            <a:off x="10003536" y="0"/>
            <a:ext cx="2185416" cy="155448"/>
          </a:xfrm>
          <a:prstGeom prst="rect">
            <a:avLst/>
          </a:prstGeom>
          <a:solidFill>
            <a:srgbClr val="79C3E4"/>
          </a:solidFill>
          <a:ln w="12700">
            <a:solidFill>
              <a:srgbClr val="79C3E4"/>
            </a:solidFill>
            <a:prstDash val="solid"/>
          </a:ln>
        </p:spPr>
      </p:sp>
      <p:sp>
        <p:nvSpPr>
          <p:cNvPr id="7" name="Shape 5"/>
          <p:cNvSpPr/>
          <p:nvPr/>
        </p:nvSpPr>
        <p:spPr>
          <a:xfrm>
            <a:off x="11356848" y="6053328"/>
            <a:ext cx="512064" cy="512064"/>
          </a:xfrm>
          <a:prstGeom prst="ellipse">
            <a:avLst/>
          </a:prstGeom>
          <a:solidFill>
            <a:srgbClr val="D8261C"/>
          </a:solidFill>
          <a:ln w="12700">
            <a:solidFill>
              <a:srgbClr val="D8261C"/>
            </a:solidFill>
            <a:prstDash val="solid"/>
          </a:ln>
        </p:spPr>
      </p:sp>
      <p:sp>
        <p:nvSpPr>
          <p:cNvPr id="8" name="Text 6"/>
          <p:cNvSpPr/>
          <p:nvPr/>
        </p:nvSpPr>
        <p:spPr>
          <a:xfrm>
            <a:off x="11356848" y="6053328"/>
            <a:ext cx="512064" cy="51206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Claro</a:t>
            </a:r>
            <a:endParaRPr lang="en-US" sz="900" dirty="0"/>
          </a:p>
        </p:txBody>
      </p:sp>
      <p:sp>
        <p:nvSpPr>
          <p:cNvPr id="9" name="Text 7"/>
          <p:cNvSpPr/>
          <p:nvPr/>
        </p:nvSpPr>
        <p:spPr>
          <a:xfrm>
            <a:off x="548640" y="6263640"/>
            <a:ext cx="914400" cy="274320"/>
          </a:xfrm>
          <a:prstGeom prst="rect">
            <a:avLst/>
          </a:prstGeom>
          <a:noFill/>
          <a:ln/>
        </p:spPr>
        <p:txBody>
          <a:bodyPr wrap="square" lIns="0" tIns="0" rIns="0" bIns="0" rtlCol="0" anchor="ctr"/>
          <a:lstStyle/>
          <a:p>
            <a:pPr algn="l" indent="0" marL="0">
              <a:buNone/>
            </a:pPr>
            <a:r>
              <a:rPr lang="en-US" sz="900" dirty="0">
                <a:solidFill>
                  <a:srgbClr val="6B6B6B"/>
                </a:solidFill>
                <a:latin typeface="Arial" pitchFamily="34" charset="0"/>
                <a:ea typeface="Arial" pitchFamily="34" charset="-122"/>
                <a:cs typeface="Arial" pitchFamily="34" charset="-120"/>
              </a:rPr>
              <a:t>6</a:t>
            </a:r>
            <a:endParaRPr lang="en-US" sz="900" dirty="0"/>
          </a:p>
        </p:txBody>
      </p:sp>
      <p:sp>
        <p:nvSpPr>
          <p:cNvPr id="10" name="Text 8"/>
          <p:cNvSpPr/>
          <p:nvPr/>
        </p:nvSpPr>
        <p:spPr>
          <a:xfrm>
            <a:off x="548640" y="384048"/>
            <a:ext cx="11091672" cy="457200"/>
          </a:xfrm>
          <a:prstGeom prst="rect">
            <a:avLst/>
          </a:prstGeom>
          <a:noFill/>
          <a:ln/>
        </p:spPr>
        <p:txBody>
          <a:bodyPr wrap="square" lIns="0" tIns="0" rIns="0" bIns="0" rtlCol="0" anchor="ctr"/>
          <a:lstStyle/>
          <a:p>
            <a:pPr algn="ctr" indent="0" marL="0">
              <a:buNone/>
            </a:pPr>
            <a:r>
              <a:rPr lang="en-US" sz="2400" b="1" dirty="0">
                <a:solidFill>
                  <a:srgbClr val="1A1A1A"/>
                </a:solidFill>
                <a:latin typeface="Arial" pitchFamily="34" charset="0"/>
                <a:ea typeface="Arial" pitchFamily="34" charset="-122"/>
                <a:cs typeface="Arial" pitchFamily="34" charset="-120"/>
              </a:rPr>
              <a:t>Cómo se combinan las señales</a:t>
            </a:r>
            <a:endParaRPr lang="en-US" sz="2400" dirty="0"/>
          </a:p>
        </p:txBody>
      </p:sp>
      <p:sp>
        <p:nvSpPr>
          <p:cNvPr id="11" name="Text 9"/>
          <p:cNvSpPr/>
          <p:nvPr/>
        </p:nvSpPr>
        <p:spPr>
          <a:xfrm>
            <a:off x="548640" y="932688"/>
            <a:ext cx="11091672" cy="384048"/>
          </a:xfrm>
          <a:prstGeom prst="rect">
            <a:avLst/>
          </a:prstGeom>
          <a:noFill/>
          <a:ln/>
        </p:spPr>
        <p:txBody>
          <a:bodyPr wrap="square" lIns="0" tIns="0" rIns="0" bIns="0" rtlCol="0" anchor="ctr"/>
          <a:lstStyle/>
          <a:p>
            <a:pPr algn="l" indent="0" marL="0">
              <a:buNone/>
            </a:pPr>
            <a:r>
              <a:rPr lang="en-US" sz="1250" dirty="0">
                <a:solidFill>
                  <a:srgbClr val="333333"/>
                </a:solidFill>
                <a:latin typeface="Arial" pitchFamily="34" charset="0"/>
                <a:ea typeface="Arial" pitchFamily="34" charset="-122"/>
                <a:cs typeface="Arial" pitchFamily="34" charset="-120"/>
              </a:rPr>
              <a:t>Cada módulo devuelve señales acotadas, no texto libre. El cruce ocurre en un solo lugar y siempre de la misma forma.</a:t>
            </a:r>
            <a:endParaRPr lang="en-US" sz="1250" dirty="0"/>
          </a:p>
        </p:txBody>
      </p:sp>
      <p:sp>
        <p:nvSpPr>
          <p:cNvPr id="12" name="Shape 10"/>
          <p:cNvSpPr/>
          <p:nvPr/>
        </p:nvSpPr>
        <p:spPr>
          <a:xfrm>
            <a:off x="548640" y="1737360"/>
            <a:ext cx="2331720" cy="822960"/>
          </a:xfrm>
          <a:prstGeom prst="rect">
            <a:avLst/>
          </a:prstGeom>
          <a:solidFill>
            <a:srgbClr val="FFFFFF"/>
          </a:solidFill>
          <a:ln w="12700">
            <a:solidFill>
              <a:srgbClr val="595959"/>
            </a:solidFill>
            <a:prstDash val="solid"/>
          </a:ln>
        </p:spPr>
      </p:sp>
      <p:sp>
        <p:nvSpPr>
          <p:cNvPr id="13" name="Text 11"/>
          <p:cNvSpPr/>
          <p:nvPr/>
        </p:nvSpPr>
        <p:spPr>
          <a:xfrm>
            <a:off x="621792" y="1737360"/>
            <a:ext cx="2185416" cy="822960"/>
          </a:xfrm>
          <a:prstGeom prst="rect">
            <a:avLst/>
          </a:prstGeom>
          <a:noFill/>
          <a:ln/>
        </p:spPr>
        <p:txBody>
          <a:bodyPr wrap="square" lIns="0" tIns="0" rIns="0" bIns="0" rtlCol="0" anchor="ctr"/>
          <a:lstStyle/>
          <a:p>
            <a:pPr algn="ctr" indent="0" marL="0">
              <a:lnSpc>
                <a:spcPct val="92000"/>
              </a:lnSpc>
              <a:buNone/>
            </a:pPr>
            <a:r>
              <a:rPr lang="en-US" sz="1050" dirty="0">
                <a:solidFill>
                  <a:srgbClr val="333333"/>
                </a:solidFill>
                <a:latin typeface="Arial" pitchFamily="34" charset="0"/>
                <a:ea typeface="Arial" pitchFamily="34" charset="-122"/>
                <a:cs typeface="Arial" pitchFamily="34" charset="-120"/>
              </a:rPr>
              <a:t>Drops</a:t>
            </a:r>
            <a:endParaRPr lang="en-US" sz="1050" dirty="0"/>
          </a:p>
          <a:p>
            <a:pPr algn="ctr" indent="0" marL="0">
              <a:lnSpc>
                <a:spcPct val="92000"/>
              </a:lnSpc>
              <a:buNone/>
            </a:pPr>
            <a:r>
              <a:rPr lang="en-US" sz="1050" dirty="0">
                <a:solidFill>
                  <a:srgbClr val="333333"/>
                </a:solidFill>
                <a:latin typeface="Arial" pitchFamily="34" charset="0"/>
                <a:ea typeface="Arial" pitchFamily="34" charset="-122"/>
                <a:cs typeface="Arial" pitchFamily="34" charset="-120"/>
              </a:rPr>
              <a:t>"accesos fallidos"</a:t>
            </a:r>
            <a:endParaRPr lang="en-US" sz="1050" dirty="0"/>
          </a:p>
        </p:txBody>
      </p:sp>
      <p:sp>
        <p:nvSpPr>
          <p:cNvPr id="14" name="Shape 12"/>
          <p:cNvSpPr/>
          <p:nvPr/>
        </p:nvSpPr>
        <p:spPr>
          <a:xfrm>
            <a:off x="548640" y="2697480"/>
            <a:ext cx="2331720" cy="822960"/>
          </a:xfrm>
          <a:prstGeom prst="rect">
            <a:avLst/>
          </a:prstGeom>
          <a:solidFill>
            <a:srgbClr val="FFFFFF"/>
          </a:solidFill>
          <a:ln w="12700">
            <a:solidFill>
              <a:srgbClr val="595959"/>
            </a:solidFill>
            <a:prstDash val="solid"/>
          </a:ln>
        </p:spPr>
      </p:sp>
      <p:sp>
        <p:nvSpPr>
          <p:cNvPr id="15" name="Text 13"/>
          <p:cNvSpPr/>
          <p:nvPr/>
        </p:nvSpPr>
        <p:spPr>
          <a:xfrm>
            <a:off x="621792" y="2697480"/>
            <a:ext cx="2185416" cy="822960"/>
          </a:xfrm>
          <a:prstGeom prst="rect">
            <a:avLst/>
          </a:prstGeom>
          <a:noFill/>
          <a:ln/>
        </p:spPr>
        <p:txBody>
          <a:bodyPr wrap="square" lIns="0" tIns="0" rIns="0" bIns="0" rtlCol="0" anchor="ctr"/>
          <a:lstStyle/>
          <a:p>
            <a:pPr algn="ctr" indent="0" marL="0">
              <a:lnSpc>
                <a:spcPct val="92000"/>
              </a:lnSpc>
              <a:buNone/>
            </a:pPr>
            <a:r>
              <a:rPr lang="en-US" sz="1050" dirty="0">
                <a:solidFill>
                  <a:srgbClr val="333333"/>
                </a:solidFill>
                <a:latin typeface="Arial" pitchFamily="34" charset="0"/>
                <a:ea typeface="Arial" pitchFamily="34" charset="-122"/>
                <a:cs typeface="Arial" pitchFamily="34" charset="-120"/>
              </a:rPr>
              <a:t>Cobertura</a:t>
            </a:r>
            <a:endParaRPr lang="en-US" sz="1050" dirty="0"/>
          </a:p>
          <a:p>
            <a:pPr algn="ctr" indent="0" marL="0">
              <a:lnSpc>
                <a:spcPct val="92000"/>
              </a:lnSpc>
              <a:buNone/>
            </a:pPr>
            <a:r>
              <a:rPr lang="en-US" sz="1050" dirty="0">
                <a:solidFill>
                  <a:srgbClr val="333333"/>
                </a:solidFill>
                <a:latin typeface="Arial" pitchFamily="34" charset="0"/>
                <a:ea typeface="Arial" pitchFamily="34" charset="-122"/>
                <a:cs typeface="Arial" pitchFamily="34" charset="-120"/>
              </a:rPr>
              <a:t>"sobre-alcance"</a:t>
            </a:r>
            <a:endParaRPr lang="en-US" sz="1050" dirty="0"/>
          </a:p>
        </p:txBody>
      </p:sp>
      <p:sp>
        <p:nvSpPr>
          <p:cNvPr id="16" name="Shape 14"/>
          <p:cNvSpPr/>
          <p:nvPr/>
        </p:nvSpPr>
        <p:spPr>
          <a:xfrm>
            <a:off x="548640" y="3657600"/>
            <a:ext cx="2331720" cy="822960"/>
          </a:xfrm>
          <a:prstGeom prst="rect">
            <a:avLst/>
          </a:prstGeom>
          <a:solidFill>
            <a:srgbClr val="FFFFFF"/>
          </a:solidFill>
          <a:ln w="12700">
            <a:solidFill>
              <a:srgbClr val="595959"/>
            </a:solidFill>
            <a:prstDash val="solid"/>
          </a:ln>
        </p:spPr>
      </p:sp>
      <p:sp>
        <p:nvSpPr>
          <p:cNvPr id="17" name="Text 15"/>
          <p:cNvSpPr/>
          <p:nvPr/>
        </p:nvSpPr>
        <p:spPr>
          <a:xfrm>
            <a:off x="621792" y="3657600"/>
            <a:ext cx="2185416" cy="822960"/>
          </a:xfrm>
          <a:prstGeom prst="rect">
            <a:avLst/>
          </a:prstGeom>
          <a:noFill/>
          <a:ln/>
        </p:spPr>
        <p:txBody>
          <a:bodyPr wrap="square" lIns="0" tIns="0" rIns="0" bIns="0" rtlCol="0" anchor="ctr"/>
          <a:lstStyle/>
          <a:p>
            <a:pPr algn="ctr" indent="0" marL="0">
              <a:lnSpc>
                <a:spcPct val="92000"/>
              </a:lnSpc>
              <a:buNone/>
            </a:pPr>
            <a:r>
              <a:rPr lang="en-US" sz="1050" dirty="0">
                <a:solidFill>
                  <a:srgbClr val="333333"/>
                </a:solidFill>
                <a:latin typeface="Arial" pitchFamily="34" charset="0"/>
                <a:ea typeface="Arial" pitchFamily="34" charset="-122"/>
                <a:cs typeface="Arial" pitchFamily="34" charset="-120"/>
              </a:rPr>
              <a:t>PCI</a:t>
            </a:r>
            <a:endParaRPr lang="en-US" sz="1050" dirty="0"/>
          </a:p>
          <a:p>
            <a:pPr algn="ctr" indent="0" marL="0">
              <a:lnSpc>
                <a:spcPct val="92000"/>
              </a:lnSpc>
              <a:buNone/>
            </a:pPr>
            <a:r>
              <a:rPr lang="en-US" sz="1050" dirty="0">
                <a:solidFill>
                  <a:srgbClr val="333333"/>
                </a:solidFill>
                <a:latin typeface="Arial" pitchFamily="34" charset="0"/>
                <a:ea typeface="Arial" pitchFamily="34" charset="-122"/>
                <a:cs typeface="Arial" pitchFamily="34" charset="-120"/>
              </a:rPr>
              <a:t>"colisión"</a:t>
            </a:r>
            <a:endParaRPr lang="en-US" sz="1050" dirty="0"/>
          </a:p>
        </p:txBody>
      </p:sp>
      <p:sp>
        <p:nvSpPr>
          <p:cNvPr id="18" name="Shape 16"/>
          <p:cNvSpPr/>
          <p:nvPr/>
        </p:nvSpPr>
        <p:spPr>
          <a:xfrm>
            <a:off x="2926080" y="2148840"/>
            <a:ext cx="640080" cy="0"/>
          </a:xfrm>
          <a:prstGeom prst="line">
            <a:avLst/>
          </a:prstGeom>
          <a:noFill/>
          <a:ln w="15875">
            <a:solidFill>
              <a:srgbClr val="8C8C8C"/>
            </a:solidFill>
            <a:prstDash val="solid"/>
            <a:tailEnd type="triangle"/>
          </a:ln>
        </p:spPr>
      </p:sp>
      <p:sp>
        <p:nvSpPr>
          <p:cNvPr id="19" name="Shape 17"/>
          <p:cNvSpPr/>
          <p:nvPr/>
        </p:nvSpPr>
        <p:spPr>
          <a:xfrm>
            <a:off x="2926080" y="3108960"/>
            <a:ext cx="640080" cy="0"/>
          </a:xfrm>
          <a:prstGeom prst="line">
            <a:avLst/>
          </a:prstGeom>
          <a:noFill/>
          <a:ln w="15875">
            <a:solidFill>
              <a:srgbClr val="8C8C8C"/>
            </a:solidFill>
            <a:prstDash val="solid"/>
            <a:tailEnd type="triangle"/>
          </a:ln>
        </p:spPr>
      </p:sp>
      <p:sp>
        <p:nvSpPr>
          <p:cNvPr id="20" name="Shape 18"/>
          <p:cNvSpPr/>
          <p:nvPr/>
        </p:nvSpPr>
        <p:spPr>
          <a:xfrm>
            <a:off x="2926080" y="4069080"/>
            <a:ext cx="640080" cy="0"/>
          </a:xfrm>
          <a:prstGeom prst="line">
            <a:avLst/>
          </a:prstGeom>
          <a:noFill/>
          <a:ln w="15875">
            <a:solidFill>
              <a:srgbClr val="8C8C8C"/>
            </a:solidFill>
            <a:prstDash val="solid"/>
            <a:tailEnd type="triangle"/>
          </a:ln>
        </p:spPr>
      </p:sp>
      <p:sp>
        <p:nvSpPr>
          <p:cNvPr id="21" name="Shape 19"/>
          <p:cNvSpPr/>
          <p:nvPr/>
        </p:nvSpPr>
        <p:spPr>
          <a:xfrm>
            <a:off x="3611880" y="1737360"/>
            <a:ext cx="2148840" cy="2743200"/>
          </a:xfrm>
          <a:prstGeom prst="rect">
            <a:avLst/>
          </a:prstGeom>
          <a:solidFill>
            <a:srgbClr val="FFFFFF"/>
          </a:solidFill>
          <a:ln w="12700">
            <a:solidFill>
              <a:srgbClr val="595959"/>
            </a:solidFill>
            <a:prstDash val="solid"/>
          </a:ln>
        </p:spPr>
      </p:sp>
      <p:sp>
        <p:nvSpPr>
          <p:cNvPr id="22" name="Text 20"/>
          <p:cNvSpPr/>
          <p:nvPr/>
        </p:nvSpPr>
        <p:spPr>
          <a:xfrm>
            <a:off x="3685032" y="1737360"/>
            <a:ext cx="2002536" cy="2743200"/>
          </a:xfrm>
          <a:prstGeom prst="rect">
            <a:avLst/>
          </a:prstGeom>
          <a:noFill/>
          <a:ln/>
        </p:spPr>
        <p:txBody>
          <a:bodyPr wrap="square" lIns="0" tIns="0" rIns="0" bIns="0" rtlCol="0" anchor="ctr"/>
          <a:lstStyle/>
          <a:p>
            <a:pPr algn="ctr" indent="0" marL="0">
              <a:lnSpc>
                <a:spcPct val="92000"/>
              </a:lnSpc>
              <a:buNone/>
            </a:pPr>
            <a:r>
              <a:rPr lang="en-US" sz="1150" b="1" dirty="0">
                <a:solidFill>
                  <a:srgbClr val="1A1A1A"/>
                </a:solidFill>
                <a:latin typeface="Arial" pitchFamily="34" charset="0"/>
                <a:ea typeface="Arial" pitchFamily="34" charset="-122"/>
                <a:cs typeface="Arial" pitchFamily="34" charset="-120"/>
              </a:rPr>
              <a:t>Cruce de</a:t>
            </a:r>
            <a:endParaRPr lang="en-US" sz="1150" dirty="0"/>
          </a:p>
          <a:p>
            <a:pPr algn="ctr" indent="0" marL="0">
              <a:lnSpc>
                <a:spcPct val="92000"/>
              </a:lnSpc>
              <a:buNone/>
            </a:pPr>
            <a:r>
              <a:rPr lang="en-US" sz="1150" b="1" dirty="0">
                <a:solidFill>
                  <a:srgbClr val="1A1A1A"/>
                </a:solidFill>
                <a:latin typeface="Arial" pitchFamily="34" charset="0"/>
                <a:ea typeface="Arial" pitchFamily="34" charset="-122"/>
                <a:cs typeface="Arial" pitchFamily="34" charset="-120"/>
              </a:rPr>
              <a:t>señales</a:t>
            </a:r>
            <a:endParaRPr lang="en-US" sz="1150" dirty="0"/>
          </a:p>
        </p:txBody>
      </p:sp>
      <p:sp>
        <p:nvSpPr>
          <p:cNvPr id="23" name="Shape 21"/>
          <p:cNvSpPr/>
          <p:nvPr/>
        </p:nvSpPr>
        <p:spPr>
          <a:xfrm>
            <a:off x="5806440" y="3108960"/>
            <a:ext cx="502920" cy="0"/>
          </a:xfrm>
          <a:prstGeom prst="line">
            <a:avLst/>
          </a:prstGeom>
          <a:noFill/>
          <a:ln w="15875">
            <a:solidFill>
              <a:srgbClr val="8C8C8C"/>
            </a:solidFill>
            <a:prstDash val="solid"/>
            <a:tailEnd type="triangle"/>
          </a:ln>
        </p:spPr>
      </p:sp>
      <p:sp>
        <p:nvSpPr>
          <p:cNvPr id="24" name="Shape 22"/>
          <p:cNvSpPr/>
          <p:nvPr/>
        </p:nvSpPr>
        <p:spPr>
          <a:xfrm>
            <a:off x="6355080" y="1737360"/>
            <a:ext cx="1737360" cy="2743200"/>
          </a:xfrm>
          <a:prstGeom prst="rect">
            <a:avLst/>
          </a:prstGeom>
          <a:solidFill>
            <a:srgbClr val="FFFFFF"/>
          </a:solidFill>
          <a:ln w="12700">
            <a:solidFill>
              <a:srgbClr val="595959"/>
            </a:solidFill>
            <a:prstDash val="solid"/>
          </a:ln>
        </p:spPr>
      </p:sp>
      <p:sp>
        <p:nvSpPr>
          <p:cNvPr id="25" name="Text 23"/>
          <p:cNvSpPr/>
          <p:nvPr/>
        </p:nvSpPr>
        <p:spPr>
          <a:xfrm>
            <a:off x="6428232" y="1737360"/>
            <a:ext cx="1591056" cy="2743200"/>
          </a:xfrm>
          <a:prstGeom prst="rect">
            <a:avLst/>
          </a:prstGeom>
          <a:noFill/>
          <a:ln/>
        </p:spPr>
        <p:txBody>
          <a:bodyPr wrap="square" lIns="0" tIns="0" rIns="0" bIns="0" rtlCol="0" anchor="ctr"/>
          <a:lstStyle/>
          <a:p>
            <a:pPr algn="ctr" indent="0" marL="0">
              <a:lnSpc>
                <a:spcPct val="92000"/>
              </a:lnSpc>
              <a:buNone/>
            </a:pPr>
            <a:r>
              <a:rPr lang="en-US" sz="1100" b="1" dirty="0">
                <a:solidFill>
                  <a:srgbClr val="1A1A1A"/>
                </a:solidFill>
                <a:latin typeface="Arial" pitchFamily="34" charset="0"/>
                <a:ea typeface="Arial" pitchFamily="34" charset="-122"/>
                <a:cs typeface="Arial" pitchFamily="34" charset="-120"/>
              </a:rPr>
              <a:t>Conclusión</a:t>
            </a:r>
            <a:endParaRPr lang="en-US" sz="1100" dirty="0"/>
          </a:p>
          <a:p>
            <a:pPr algn="ctr" indent="0" marL="0">
              <a:lnSpc>
                <a:spcPct val="92000"/>
              </a:lnSpc>
              <a:buNone/>
            </a:pPr>
            <a:r>
              <a:rPr lang="en-US" sz="1100" b="1" dirty="0">
                <a:solidFill>
                  <a:srgbClr val="1A1A1A"/>
                </a:solidFill>
                <a:latin typeface="Arial" pitchFamily="34" charset="0"/>
                <a:ea typeface="Arial" pitchFamily="34" charset="-122"/>
                <a:cs typeface="Arial" pitchFamily="34" charset="-120"/>
              </a:rPr>
              <a:t>con confianza</a:t>
            </a:r>
            <a:endParaRPr lang="en-US" sz="1100" dirty="0"/>
          </a:p>
        </p:txBody>
      </p:sp>
      <p:sp>
        <p:nvSpPr>
          <p:cNvPr id="26" name="Text 24"/>
          <p:cNvSpPr/>
          <p:nvPr/>
        </p:nvSpPr>
        <p:spPr>
          <a:xfrm>
            <a:off x="8366760" y="1737360"/>
            <a:ext cx="3273552" cy="960120"/>
          </a:xfrm>
          <a:prstGeom prst="rect">
            <a:avLst/>
          </a:prstGeom>
          <a:noFill/>
          <a:ln/>
        </p:spPr>
        <p:txBody>
          <a:bodyPr wrap="square" lIns="0" tIns="0" rIns="0" bIns="0" rtlCol="0" anchor="t"/>
          <a:lstStyle/>
          <a:p>
            <a:pPr algn="l" indent="0" marL="0">
              <a:lnSpc>
                <a:spcPct val="95000"/>
              </a:lnSpc>
              <a:buNone/>
            </a:pPr>
            <a:r>
              <a:rPr lang="en-US" sz="1200" b="1" dirty="0">
                <a:solidFill>
                  <a:srgbClr val="1A1A1A"/>
                </a:solidFill>
                <a:latin typeface="Arial" pitchFamily="34" charset="0"/>
                <a:ea typeface="Arial" pitchFamily="34" charset="-122"/>
                <a:cs typeface="Arial" pitchFamily="34" charset="-120"/>
              </a:rPr>
              <a:t>Los módulos no se consultan entre sí.
</a:t>
            </a:r>
            <a:pPr algn="l" indent="0" marL="0">
              <a:lnSpc>
                <a:spcPct val="95000"/>
              </a:lnSpc>
              <a:buNone/>
            </a:pPr>
            <a:r>
              <a:rPr lang="en-US" sz="1100" dirty="0">
                <a:solidFill>
                  <a:srgbClr val="333333"/>
                </a:solidFill>
                <a:latin typeface="Arial" pitchFamily="34" charset="0"/>
                <a:ea typeface="Arial" pitchFamily="34" charset="-122"/>
                <a:cs typeface="Arial" pitchFamily="34" charset="-120"/>
              </a:rPr>
              <a:t>Todo el cruce pasa por un solo punto, que se puede leer y discutir sin abrir el modelo.</a:t>
            </a:r>
            <a:endParaRPr lang="en-US" sz="1200" dirty="0"/>
          </a:p>
        </p:txBody>
      </p:sp>
      <p:sp>
        <p:nvSpPr>
          <p:cNvPr id="27" name="Text 25"/>
          <p:cNvSpPr/>
          <p:nvPr/>
        </p:nvSpPr>
        <p:spPr>
          <a:xfrm>
            <a:off x="8366760" y="2761488"/>
            <a:ext cx="3273552" cy="960120"/>
          </a:xfrm>
          <a:prstGeom prst="rect">
            <a:avLst/>
          </a:prstGeom>
          <a:noFill/>
          <a:ln/>
        </p:spPr>
        <p:txBody>
          <a:bodyPr wrap="square" lIns="0" tIns="0" rIns="0" bIns="0" rtlCol="0" anchor="t"/>
          <a:lstStyle/>
          <a:p>
            <a:pPr algn="l" indent="0" marL="0">
              <a:lnSpc>
                <a:spcPct val="95000"/>
              </a:lnSpc>
              <a:buNone/>
            </a:pPr>
            <a:r>
              <a:rPr lang="en-US" sz="1200" b="1" dirty="0">
                <a:solidFill>
                  <a:srgbClr val="1A1A1A"/>
                </a:solidFill>
                <a:latin typeface="Arial" pitchFamily="34" charset="0"/>
                <a:ea typeface="Arial" pitchFamily="34" charset="-122"/>
                <a:cs typeface="Arial" pitchFamily="34" charset="-120"/>
              </a:rPr>
              <a:t>Mismo caso, misma conclusión.
</a:t>
            </a:r>
            <a:pPr algn="l" indent="0" marL="0">
              <a:lnSpc>
                <a:spcPct val="95000"/>
              </a:lnSpc>
              <a:buNone/>
            </a:pPr>
            <a:r>
              <a:rPr lang="en-US" sz="1100" dirty="0">
                <a:solidFill>
                  <a:srgbClr val="333333"/>
                </a:solidFill>
                <a:latin typeface="Arial" pitchFamily="34" charset="0"/>
                <a:ea typeface="Arial" pitchFamily="34" charset="-122"/>
                <a:cs typeface="Arial" pitchFamily="34" charset="-120"/>
              </a:rPr>
              <a:t>La regla está escrita. No cambia de un día para el otro ni depende de cómo se redactó la pregunta.</a:t>
            </a:r>
            <a:endParaRPr lang="en-US" sz="1200" dirty="0"/>
          </a:p>
        </p:txBody>
      </p:sp>
      <p:sp>
        <p:nvSpPr>
          <p:cNvPr id="28" name="Text 26"/>
          <p:cNvSpPr/>
          <p:nvPr/>
        </p:nvSpPr>
        <p:spPr>
          <a:xfrm>
            <a:off x="8366760" y="3785616"/>
            <a:ext cx="3273552" cy="960120"/>
          </a:xfrm>
          <a:prstGeom prst="rect">
            <a:avLst/>
          </a:prstGeom>
          <a:noFill/>
          <a:ln/>
        </p:spPr>
        <p:txBody>
          <a:bodyPr wrap="square" lIns="0" tIns="0" rIns="0" bIns="0" rtlCol="0" anchor="t"/>
          <a:lstStyle/>
          <a:p>
            <a:pPr algn="l" indent="0" marL="0">
              <a:lnSpc>
                <a:spcPct val="95000"/>
              </a:lnSpc>
              <a:buNone/>
            </a:pPr>
            <a:r>
              <a:rPr lang="en-US" sz="1200" b="1" dirty="0">
                <a:solidFill>
                  <a:srgbClr val="1A1A1A"/>
                </a:solidFill>
                <a:latin typeface="Arial" pitchFamily="34" charset="0"/>
                <a:ea typeface="Arial" pitchFamily="34" charset="-122"/>
                <a:cs typeface="Arial" pitchFamily="34" charset="-120"/>
              </a:rPr>
              <a:t>Sumar un dominio es sumar un módulo.
</a:t>
            </a:r>
            <a:pPr algn="l" indent="0" marL="0">
              <a:lnSpc>
                <a:spcPct val="95000"/>
              </a:lnSpc>
              <a:buNone/>
            </a:pPr>
            <a:r>
              <a:rPr lang="en-US" sz="1100" dirty="0">
                <a:solidFill>
                  <a:srgbClr val="333333"/>
                </a:solidFill>
                <a:latin typeface="Arial" pitchFamily="34" charset="0"/>
                <a:ea typeface="Arial" pitchFamily="34" charset="-122"/>
                <a:cs typeface="Arial" pitchFamily="34" charset="-120"/>
              </a:rPr>
              <a:t>Transporte o energía entrarían igual: se agrega el módulo y sus reglas, sin rehacer el agente.</a:t>
            </a:r>
            <a:endParaRPr lang="en-US" sz="1200" dirty="0"/>
          </a:p>
        </p:txBody>
      </p:sp>
      <p:sp>
        <p:nvSpPr>
          <p:cNvPr id="29" name="Text 27"/>
          <p:cNvSpPr/>
          <p:nvPr/>
        </p:nvSpPr>
        <p:spPr>
          <a:xfrm>
            <a:off x="548640" y="4892040"/>
            <a:ext cx="11091672" cy="411480"/>
          </a:xfrm>
          <a:prstGeom prst="rect">
            <a:avLst/>
          </a:prstGeom>
          <a:noFill/>
          <a:ln/>
        </p:spPr>
        <p:txBody>
          <a:bodyPr wrap="square" lIns="0" tIns="0" rIns="0" bIns="0" rtlCol="0" anchor="ctr"/>
          <a:lstStyle/>
          <a:p>
            <a:pPr algn="l" indent="0" marL="0">
              <a:buNone/>
            </a:pPr>
            <a:r>
              <a:rPr lang="en-US" sz="1200" b="1" dirty="0">
                <a:solidFill>
                  <a:srgbClr val="1A1A1A"/>
                </a:solidFill>
                <a:latin typeface="Arial" pitchFamily="34" charset="0"/>
                <a:ea typeface="Arial" pitchFamily="34" charset="-122"/>
                <a:cs typeface="Arial" pitchFamily="34" charset="-120"/>
              </a:rPr>
              <a:t>Ejemplo de cruce:  </a:t>
            </a:r>
            <a:pPr algn="l" indent="0" marL="0">
              <a:buNone/>
            </a:pPr>
            <a:r>
              <a:rPr lang="en-US" sz="1200" dirty="0">
                <a:solidFill>
                  <a:srgbClr val="333333"/>
                </a:solidFill>
                <a:latin typeface="Arial" pitchFamily="34" charset="0"/>
                <a:ea typeface="Arial" pitchFamily="34" charset="-122"/>
                <a:cs typeface="Arial" pitchFamily="34" charset="-120"/>
              </a:rPr>
              <a:t>"accesos fallidos" (drops)  +  "colisión" (PCI)  →  el conflicto de identidad explica los drops, con confianza alta y una corrección posible.</a:t>
            </a:r>
            <a:endParaRPr lang="en-US" sz="1200" dirty="0"/>
          </a:p>
        </p:txBody>
      </p:sp>
      <p:sp>
        <p:nvSpPr>
          <p:cNvPr id="30" name="Text 28"/>
          <p:cNvSpPr/>
          <p:nvPr/>
        </p:nvSpPr>
        <p:spPr>
          <a:xfrm>
            <a:off x="548640" y="5321808"/>
            <a:ext cx="11091672" cy="365760"/>
          </a:xfrm>
          <a:prstGeom prst="rect">
            <a:avLst/>
          </a:prstGeom>
          <a:noFill/>
          <a:ln/>
        </p:spPr>
        <p:txBody>
          <a:bodyPr wrap="square" lIns="0" tIns="0" rIns="0" bIns="0" rtlCol="0" anchor="ctr"/>
          <a:lstStyle/>
          <a:p>
            <a:pPr algn="l" indent="0" marL="0">
              <a:buNone/>
            </a:pPr>
            <a:r>
              <a:rPr lang="en-US" sz="1100" dirty="0">
                <a:solidFill>
                  <a:srgbClr val="6B6B6B"/>
                </a:solidFill>
                <a:latin typeface="Arial" pitchFamily="34" charset="0"/>
                <a:ea typeface="Arial" pitchFamily="34" charset="-122"/>
                <a:cs typeface="Arial" pitchFamily="34" charset="-120"/>
              </a:rPr>
              <a:t>Si en cambio PCI y cobertura vuelven sin observaciones, el cruce no fuerza una causa: baja la confianza y devuelve la causa dominante de los contadores.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783080" cy="155448"/>
          </a:xfrm>
          <a:prstGeom prst="rect">
            <a:avLst/>
          </a:prstGeom>
          <a:solidFill>
            <a:srgbClr val="A8C93B"/>
          </a:solidFill>
          <a:ln w="12700">
            <a:solidFill>
              <a:srgbClr val="A8C93B"/>
            </a:solidFill>
            <a:prstDash val="solid"/>
          </a:ln>
        </p:spPr>
      </p:sp>
      <p:sp>
        <p:nvSpPr>
          <p:cNvPr id="3" name="Shape 1"/>
          <p:cNvSpPr/>
          <p:nvPr/>
        </p:nvSpPr>
        <p:spPr>
          <a:xfrm>
            <a:off x="1783080" y="0"/>
            <a:ext cx="2752344" cy="155448"/>
          </a:xfrm>
          <a:prstGeom prst="rect">
            <a:avLst/>
          </a:prstGeom>
          <a:solidFill>
            <a:srgbClr val="E77B26"/>
          </a:solidFill>
          <a:ln w="12700">
            <a:solidFill>
              <a:srgbClr val="E77B26"/>
            </a:solidFill>
            <a:prstDash val="solid"/>
          </a:ln>
        </p:spPr>
      </p:sp>
      <p:sp>
        <p:nvSpPr>
          <p:cNvPr id="4" name="Shape 2"/>
          <p:cNvSpPr/>
          <p:nvPr/>
        </p:nvSpPr>
        <p:spPr>
          <a:xfrm>
            <a:off x="4535424" y="0"/>
            <a:ext cx="2734056" cy="155448"/>
          </a:xfrm>
          <a:prstGeom prst="rect">
            <a:avLst/>
          </a:prstGeom>
          <a:solidFill>
            <a:srgbClr val="F2A81D"/>
          </a:solidFill>
          <a:ln w="12700">
            <a:solidFill>
              <a:srgbClr val="F2A81D"/>
            </a:solidFill>
            <a:prstDash val="solid"/>
          </a:ln>
        </p:spPr>
      </p:sp>
      <p:sp>
        <p:nvSpPr>
          <p:cNvPr id="5" name="Shape 3"/>
          <p:cNvSpPr/>
          <p:nvPr/>
        </p:nvSpPr>
        <p:spPr>
          <a:xfrm>
            <a:off x="7269480" y="0"/>
            <a:ext cx="2734056" cy="155448"/>
          </a:xfrm>
          <a:prstGeom prst="rect">
            <a:avLst/>
          </a:prstGeom>
          <a:solidFill>
            <a:srgbClr val="E23A26"/>
          </a:solidFill>
          <a:ln w="12700">
            <a:solidFill>
              <a:srgbClr val="E23A26"/>
            </a:solidFill>
            <a:prstDash val="solid"/>
          </a:ln>
        </p:spPr>
      </p:sp>
      <p:sp>
        <p:nvSpPr>
          <p:cNvPr id="6" name="Shape 4"/>
          <p:cNvSpPr/>
          <p:nvPr/>
        </p:nvSpPr>
        <p:spPr>
          <a:xfrm>
            <a:off x="10003536" y="0"/>
            <a:ext cx="2185416" cy="155448"/>
          </a:xfrm>
          <a:prstGeom prst="rect">
            <a:avLst/>
          </a:prstGeom>
          <a:solidFill>
            <a:srgbClr val="79C3E4"/>
          </a:solidFill>
          <a:ln w="12700">
            <a:solidFill>
              <a:srgbClr val="79C3E4"/>
            </a:solidFill>
            <a:prstDash val="solid"/>
          </a:ln>
        </p:spPr>
      </p:sp>
      <p:sp>
        <p:nvSpPr>
          <p:cNvPr id="7" name="Shape 5"/>
          <p:cNvSpPr/>
          <p:nvPr/>
        </p:nvSpPr>
        <p:spPr>
          <a:xfrm>
            <a:off x="11356848" y="6053328"/>
            <a:ext cx="512064" cy="512064"/>
          </a:xfrm>
          <a:prstGeom prst="ellipse">
            <a:avLst/>
          </a:prstGeom>
          <a:solidFill>
            <a:srgbClr val="D8261C"/>
          </a:solidFill>
          <a:ln w="12700">
            <a:solidFill>
              <a:srgbClr val="D8261C"/>
            </a:solidFill>
            <a:prstDash val="solid"/>
          </a:ln>
        </p:spPr>
      </p:sp>
      <p:sp>
        <p:nvSpPr>
          <p:cNvPr id="8" name="Text 6"/>
          <p:cNvSpPr/>
          <p:nvPr/>
        </p:nvSpPr>
        <p:spPr>
          <a:xfrm>
            <a:off x="11356848" y="6053328"/>
            <a:ext cx="512064" cy="51206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Claro</a:t>
            </a:r>
            <a:endParaRPr lang="en-US" sz="900" dirty="0"/>
          </a:p>
        </p:txBody>
      </p:sp>
      <p:sp>
        <p:nvSpPr>
          <p:cNvPr id="9" name="Text 7"/>
          <p:cNvSpPr/>
          <p:nvPr/>
        </p:nvSpPr>
        <p:spPr>
          <a:xfrm>
            <a:off x="548640" y="6263640"/>
            <a:ext cx="914400" cy="274320"/>
          </a:xfrm>
          <a:prstGeom prst="rect">
            <a:avLst/>
          </a:prstGeom>
          <a:noFill/>
          <a:ln/>
        </p:spPr>
        <p:txBody>
          <a:bodyPr wrap="square" lIns="0" tIns="0" rIns="0" bIns="0" rtlCol="0" anchor="ctr"/>
          <a:lstStyle/>
          <a:p>
            <a:pPr algn="l" indent="0" marL="0">
              <a:buNone/>
            </a:pPr>
            <a:r>
              <a:rPr lang="en-US" sz="900" dirty="0">
                <a:solidFill>
                  <a:srgbClr val="6B6B6B"/>
                </a:solidFill>
                <a:latin typeface="Arial" pitchFamily="34" charset="0"/>
                <a:ea typeface="Arial" pitchFamily="34" charset="-122"/>
                <a:cs typeface="Arial" pitchFamily="34" charset="-120"/>
              </a:rPr>
              <a:t>7</a:t>
            </a:r>
            <a:endParaRPr lang="en-US" sz="900" dirty="0"/>
          </a:p>
        </p:txBody>
      </p:sp>
      <p:sp>
        <p:nvSpPr>
          <p:cNvPr id="10" name="Text 8"/>
          <p:cNvSpPr/>
          <p:nvPr/>
        </p:nvSpPr>
        <p:spPr>
          <a:xfrm>
            <a:off x="548640" y="384048"/>
            <a:ext cx="11091672" cy="457200"/>
          </a:xfrm>
          <a:prstGeom prst="rect">
            <a:avLst/>
          </a:prstGeom>
          <a:noFill/>
          <a:ln/>
        </p:spPr>
        <p:txBody>
          <a:bodyPr wrap="square" lIns="0" tIns="0" rIns="0" bIns="0" rtlCol="0" anchor="ctr"/>
          <a:lstStyle/>
          <a:p>
            <a:pPr algn="ctr" indent="0" marL="0">
              <a:buNone/>
            </a:pPr>
            <a:r>
              <a:rPr lang="en-US" sz="2400" b="1" dirty="0">
                <a:solidFill>
                  <a:srgbClr val="1A1A1A"/>
                </a:solidFill>
                <a:latin typeface="Arial" pitchFamily="34" charset="0"/>
                <a:ea typeface="Arial" pitchFamily="34" charset="-122"/>
                <a:cs typeface="Arial" pitchFamily="34" charset="-120"/>
              </a:rPr>
              <a:t>Reglas de cruce: ejemplos concretos</a:t>
            </a:r>
            <a:endParaRPr lang="en-US" sz="2400" dirty="0"/>
          </a:p>
        </p:txBody>
      </p:sp>
      <p:sp>
        <p:nvSpPr>
          <p:cNvPr id="11" name="Text 9"/>
          <p:cNvSpPr/>
          <p:nvPr/>
        </p:nvSpPr>
        <p:spPr>
          <a:xfrm>
            <a:off x="548640" y="932688"/>
            <a:ext cx="11091672" cy="384048"/>
          </a:xfrm>
          <a:prstGeom prst="rect">
            <a:avLst/>
          </a:prstGeom>
          <a:noFill/>
          <a:ln/>
        </p:spPr>
        <p:txBody>
          <a:bodyPr wrap="square" lIns="0" tIns="0" rIns="0" bIns="0" rtlCol="0" anchor="ctr"/>
          <a:lstStyle/>
          <a:p>
            <a:pPr algn="l" indent="0" marL="0">
              <a:buNone/>
            </a:pPr>
            <a:r>
              <a:rPr lang="en-US" sz="1250" dirty="0">
                <a:solidFill>
                  <a:srgbClr val="333333"/>
                </a:solidFill>
                <a:latin typeface="Arial" pitchFamily="34" charset="0"/>
                <a:ea typeface="Arial" pitchFamily="34" charset="-122"/>
                <a:cs typeface="Arial" pitchFamily="34" charset="-120"/>
              </a:rPr>
              <a:t>Así se ve el criterio escrito. Descartar también es un resultado: si no hay evidencia cruzada, no se propone acción.</a:t>
            </a:r>
            <a:endParaRPr lang="en-US" sz="12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914400"/>
        </p:xfrm>
        <a:graphic>
          <a:graphicData uri="http://schemas.openxmlformats.org/drawingml/2006/table">
            <a:tbl>
              <a:tblPr/>
              <a:tblGrid>
                <a:gridCol w="1965960"/>
                <a:gridCol w="2606040"/>
                <a:gridCol w="2606040"/>
                <a:gridCol w="1097280"/>
                <a:gridCol w="2816352"/>
              </a:tblGrid>
              <a:tr h="411480">
                <a:tc>
                  <a:txBody>
                    <a:bodyPr/>
                    <a:lstStyle/>
                    <a:p>
                      <a:pPr indent="0" marL="0">
                        <a:buNone/>
                      </a:pPr>
                      <a:r>
                        <a:rPr lang="en-US" sz="1050" b="1" dirty="0">
                          <a:solidFill>
                            <a:srgbClr val="1A1A1A"/>
                          </a:solidFill>
                          <a:latin typeface="Arial" pitchFamily="34" charset="0"/>
                          <a:ea typeface="Arial" pitchFamily="34" charset="-122"/>
                          <a:cs typeface="Arial" pitchFamily="34" charset="-120"/>
                        </a:rPr>
                        <a:t>Lo que ve drops</a:t>
                      </a:r>
                      <a:endParaRPr lang="en-US" sz="105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EDED"/>
                    </a:solidFill>
                  </a:tcPr>
                </a:tc>
                <a:tc>
                  <a:txBody>
                    <a:bodyPr/>
                    <a:lstStyle/>
                    <a:p>
                      <a:pPr indent="0" marL="0">
                        <a:buNone/>
                      </a:pPr>
                      <a:r>
                        <a:rPr lang="en-US" sz="1050" b="1" dirty="0">
                          <a:solidFill>
                            <a:srgbClr val="1A1A1A"/>
                          </a:solidFill>
                          <a:latin typeface="Arial" pitchFamily="34" charset="0"/>
                          <a:ea typeface="Arial" pitchFamily="34" charset="-122"/>
                          <a:cs typeface="Arial" pitchFamily="34" charset="-120"/>
                        </a:rPr>
                        <a:t>Lo que ve el otro dominio</a:t>
                      </a:r>
                      <a:endParaRPr lang="en-US" sz="105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EDED"/>
                    </a:solidFill>
                  </a:tcPr>
                </a:tc>
                <a:tc>
                  <a:txBody>
                    <a:bodyPr/>
                    <a:lstStyle/>
                    <a:p>
                      <a:pPr indent="0" marL="0">
                        <a:buNone/>
                      </a:pPr>
                      <a:r>
                        <a:rPr lang="en-US" sz="1050" b="1" dirty="0">
                          <a:solidFill>
                            <a:srgbClr val="1A1A1A"/>
                          </a:solidFill>
                          <a:latin typeface="Arial" pitchFamily="34" charset="0"/>
                          <a:ea typeface="Arial" pitchFamily="34" charset="-122"/>
                          <a:cs typeface="Arial" pitchFamily="34" charset="-120"/>
                        </a:rPr>
                        <a:t>Conclusión</a:t>
                      </a:r>
                      <a:endParaRPr lang="en-US" sz="105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EDED"/>
                    </a:solidFill>
                  </a:tcPr>
                </a:tc>
                <a:tc>
                  <a:txBody>
                    <a:bodyPr/>
                    <a:lstStyle/>
                    <a:p>
                      <a:pPr indent="0" marL="0">
                        <a:buNone/>
                      </a:pPr>
                      <a:r>
                        <a:rPr lang="en-US" sz="1050" b="1" dirty="0">
                          <a:solidFill>
                            <a:srgbClr val="1A1A1A"/>
                          </a:solidFill>
                          <a:latin typeface="Arial" pitchFamily="34" charset="0"/>
                          <a:ea typeface="Arial" pitchFamily="34" charset="-122"/>
                          <a:cs typeface="Arial" pitchFamily="34" charset="-120"/>
                        </a:rPr>
                        <a:t>Confianza</a:t>
                      </a:r>
                      <a:endParaRPr lang="en-US" sz="105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EDED"/>
                    </a:solidFill>
                  </a:tcPr>
                </a:tc>
                <a:tc>
                  <a:txBody>
                    <a:bodyPr/>
                    <a:lstStyle/>
                    <a:p>
                      <a:pPr indent="0" marL="0">
                        <a:buNone/>
                      </a:pPr>
                      <a:r>
                        <a:rPr lang="en-US" sz="1050" b="1" dirty="0">
                          <a:solidFill>
                            <a:srgbClr val="1A1A1A"/>
                          </a:solidFill>
                          <a:latin typeface="Arial" pitchFamily="34" charset="0"/>
                          <a:ea typeface="Arial" pitchFamily="34" charset="-122"/>
                          <a:cs typeface="Arial" pitchFamily="34" charset="-120"/>
                        </a:rPr>
                        <a:t>Acción</a:t>
                      </a:r>
                      <a:endParaRPr lang="en-US" sz="105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EDED"/>
                    </a:solidFill>
                  </a:tcPr>
                </a:tc>
              </a:tr>
              <a:tr h="713232">
                <a:tc>
                  <a:txBody>
                    <a:bodyPr/>
                    <a:lstStyle/>
                    <a:p>
                      <a:pPr indent="0" marL="0">
                        <a:buNone/>
                      </a:pPr>
                      <a:r>
                        <a:rPr lang="en-US" sz="1050" b="1" dirty="0">
                          <a:solidFill>
                            <a:srgbClr val="333333"/>
                          </a:solidFill>
                          <a:latin typeface="Arial" pitchFamily="34" charset="0"/>
                          <a:ea typeface="Arial" pitchFamily="34" charset="-122"/>
                          <a:cs typeface="Arial" pitchFamily="34" charset="-120"/>
                        </a:rPr>
                        <a:t>Accesos fallidos altos</a:t>
                      </a:r>
                      <a:endParaRPr lang="en-US" sz="105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7F7"/>
                    </a:solidFill>
                  </a:tcPr>
                </a:tc>
                <a:tc>
                  <a:txBody>
                    <a:bodyPr/>
                    <a:lstStyle/>
                    <a:p>
                      <a:pPr indent="0" marL="0">
                        <a:buNone/>
                      </a:pPr>
                      <a:r>
                        <a:rPr lang="en-US" sz="1050" dirty="0">
                          <a:solidFill>
                            <a:srgbClr val="333333"/>
                          </a:solidFill>
                          <a:latin typeface="Arial" pitchFamily="34" charset="0"/>
                          <a:ea typeface="Arial" pitchFamily="34" charset="-122"/>
                          <a:cs typeface="Arial" pitchFamily="34" charset="-120"/>
                        </a:rPr>
                        <a:t>Colisión o confusión de PCI con una vecina</a:t>
                      </a:r>
                      <a:endParaRPr lang="en-US" sz="105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7F7"/>
                    </a:solidFill>
                  </a:tcPr>
                </a:tc>
                <a:tc>
                  <a:txBody>
                    <a:bodyPr/>
                    <a:lstStyle/>
                    <a:p>
                      <a:pPr indent="0" marL="0">
                        <a:buNone/>
                      </a:pPr>
                      <a:r>
                        <a:rPr lang="en-US" sz="1050" dirty="0">
                          <a:solidFill>
                            <a:srgbClr val="333333"/>
                          </a:solidFill>
                          <a:latin typeface="Arial" pitchFamily="34" charset="0"/>
                          <a:ea typeface="Arial" pitchFamily="34" charset="-122"/>
                          <a:cs typeface="Arial" pitchFamily="34" charset="-120"/>
                        </a:rPr>
                        <a:t>El conflicto de PCI explica los drops</a:t>
                      </a:r>
                      <a:endParaRPr lang="en-US" sz="105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7F7"/>
                    </a:solidFill>
                  </a:tcPr>
                </a:tc>
                <a:tc>
                  <a:txBody>
                    <a:bodyPr/>
                    <a:lstStyle/>
                    <a:p>
                      <a:pPr indent="0" marL="0">
                        <a:buNone/>
                      </a:pPr>
                      <a:r>
                        <a:rPr lang="en-US" sz="1050" dirty="0">
                          <a:solidFill>
                            <a:srgbClr val="333333"/>
                          </a:solidFill>
                          <a:latin typeface="Arial" pitchFamily="34" charset="0"/>
                          <a:ea typeface="Arial" pitchFamily="34" charset="-122"/>
                          <a:cs typeface="Arial" pitchFamily="34" charset="-120"/>
                        </a:rPr>
                        <a:t>Alta</a:t>
                      </a:r>
                      <a:endParaRPr lang="en-US" sz="105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7F7"/>
                    </a:solidFill>
                  </a:tcPr>
                </a:tc>
                <a:tc>
                  <a:txBody>
                    <a:bodyPr/>
                    <a:lstStyle/>
                    <a:p>
                      <a:pPr indent="0" marL="0">
                        <a:buNone/>
                      </a:pPr>
                      <a:r>
                        <a:rPr lang="en-US" sz="1050" dirty="0">
                          <a:solidFill>
                            <a:srgbClr val="333333"/>
                          </a:solidFill>
                          <a:latin typeface="Arial" pitchFamily="34" charset="0"/>
                          <a:ea typeface="Arial" pitchFamily="34" charset="-122"/>
                          <a:cs typeface="Arial" pitchFamily="34" charset="-120"/>
                        </a:rPr>
                        <a:t>Proponer un PCI nuevo y validarlo antes de aplicarlo</a:t>
                      </a:r>
                      <a:endParaRPr lang="en-US" sz="105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7F7"/>
                    </a:solidFill>
                  </a:tcPr>
                </a:tc>
              </a:tr>
              <a:tr h="713232">
                <a:tc>
                  <a:txBody>
                    <a:bodyPr/>
                    <a:lstStyle/>
                    <a:p>
                      <a:pPr indent="0" marL="0">
                        <a:buNone/>
                      </a:pPr>
                      <a:r>
                        <a:rPr lang="en-US" sz="1050" b="1" dirty="0">
                          <a:solidFill>
                            <a:srgbClr val="333333"/>
                          </a:solidFill>
                          <a:latin typeface="Arial" pitchFamily="34" charset="0"/>
                          <a:ea typeface="Arial" pitchFamily="34" charset="-122"/>
                          <a:cs typeface="Arial" pitchFamily="34" charset="-120"/>
                        </a:rPr>
                        <a:t>Degradación de cobertura</a:t>
                      </a:r>
                      <a:endParaRPr lang="en-US" sz="105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050" dirty="0">
                          <a:solidFill>
                            <a:srgbClr val="333333"/>
                          </a:solidFill>
                          <a:latin typeface="Arial" pitchFamily="34" charset="0"/>
                          <a:ea typeface="Arial" pitchFamily="34" charset="-122"/>
                          <a:cs typeface="Arial" pitchFamily="34" charset="-120"/>
                        </a:rPr>
                        <a:t>Celda sirviendo bastante más lejos de su radio de diseño</a:t>
                      </a:r>
                      <a:endParaRPr lang="en-US" sz="105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050" dirty="0">
                          <a:solidFill>
                            <a:srgbClr val="333333"/>
                          </a:solidFill>
                          <a:latin typeface="Arial" pitchFamily="34" charset="0"/>
                          <a:ea typeface="Arial" pitchFamily="34" charset="-122"/>
                          <a:cs typeface="Arial" pitchFamily="34" charset="-120"/>
                        </a:rPr>
                        <a:t>Sobre-alcance: los drops están en el borde</a:t>
                      </a:r>
                      <a:endParaRPr lang="en-US" sz="105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050" dirty="0">
                          <a:solidFill>
                            <a:srgbClr val="333333"/>
                          </a:solidFill>
                          <a:latin typeface="Arial" pitchFamily="34" charset="0"/>
                          <a:ea typeface="Arial" pitchFamily="34" charset="-122"/>
                          <a:cs typeface="Arial" pitchFamily="34" charset="-120"/>
                        </a:rPr>
                        <a:t>Alta</a:t>
                      </a:r>
                      <a:endParaRPr lang="en-US" sz="105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050" dirty="0">
                          <a:solidFill>
                            <a:srgbClr val="333333"/>
                          </a:solidFill>
                          <a:latin typeface="Arial" pitchFamily="34" charset="0"/>
                          <a:ea typeface="Arial" pitchFamily="34" charset="-122"/>
                          <a:cs typeface="Arial" pitchFamily="34" charset="-120"/>
                        </a:rPr>
                        <a:t>Caso armado al equipo de RF con la evidencia</a:t>
                      </a:r>
                      <a:endParaRPr lang="en-US" sz="105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713232">
                <a:tc>
                  <a:txBody>
                    <a:bodyPr/>
                    <a:lstStyle/>
                    <a:p>
                      <a:pPr indent="0" marL="0">
                        <a:buNone/>
                      </a:pPr>
                      <a:r>
                        <a:rPr lang="en-US" sz="1050" b="1" dirty="0">
                          <a:solidFill>
                            <a:srgbClr val="333333"/>
                          </a:solidFill>
                          <a:latin typeface="Arial" pitchFamily="34" charset="0"/>
                          <a:ea typeface="Arial" pitchFamily="34" charset="-122"/>
                          <a:cs typeface="Arial" pitchFamily="34" charset="-120"/>
                        </a:rPr>
                        <a:t>Degradación de cobertura</a:t>
                      </a:r>
                      <a:endParaRPr lang="en-US" sz="105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7F7"/>
                    </a:solidFill>
                  </a:tcPr>
                </a:tc>
                <a:tc>
                  <a:txBody>
                    <a:bodyPr/>
                    <a:lstStyle/>
                    <a:p>
                      <a:pPr indent="0" marL="0">
                        <a:buNone/>
                      </a:pPr>
                      <a:r>
                        <a:rPr lang="en-US" sz="1050" dirty="0">
                          <a:solidFill>
                            <a:srgbClr val="333333"/>
                          </a:solidFill>
                          <a:latin typeface="Arial" pitchFamily="34" charset="0"/>
                          <a:ea typeface="Arial" pitchFamily="34" charset="-122"/>
                          <a:cs typeface="Arial" pitchFamily="34" charset="-120"/>
                        </a:rPr>
                        <a:t>Nivel de señal bajo confirmado en el terreno</a:t>
                      </a:r>
                      <a:endParaRPr lang="en-US" sz="105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7F7"/>
                    </a:solidFill>
                  </a:tcPr>
                </a:tc>
                <a:tc>
                  <a:txBody>
                    <a:bodyPr/>
                    <a:lstStyle/>
                    <a:p>
                      <a:pPr indent="0" marL="0">
                        <a:buNone/>
                      </a:pPr>
                      <a:r>
                        <a:rPr lang="en-US" sz="1050" dirty="0">
                          <a:solidFill>
                            <a:srgbClr val="333333"/>
                          </a:solidFill>
                          <a:latin typeface="Arial" pitchFamily="34" charset="0"/>
                          <a:ea typeface="Arial" pitchFamily="34" charset="-122"/>
                          <a:cs typeface="Arial" pitchFamily="34" charset="-120"/>
                        </a:rPr>
                        <a:t>Hueco de cobertura real, no falsa alarma de contadores</a:t>
                      </a:r>
                      <a:endParaRPr lang="en-US" sz="105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7F7"/>
                    </a:solidFill>
                  </a:tcPr>
                </a:tc>
                <a:tc>
                  <a:txBody>
                    <a:bodyPr/>
                    <a:lstStyle/>
                    <a:p>
                      <a:pPr indent="0" marL="0">
                        <a:buNone/>
                      </a:pPr>
                      <a:r>
                        <a:rPr lang="en-US" sz="1050" dirty="0">
                          <a:solidFill>
                            <a:srgbClr val="333333"/>
                          </a:solidFill>
                          <a:latin typeface="Arial" pitchFamily="34" charset="0"/>
                          <a:ea typeface="Arial" pitchFamily="34" charset="-122"/>
                          <a:cs typeface="Arial" pitchFamily="34" charset="-120"/>
                        </a:rPr>
                        <a:t>Alta</a:t>
                      </a:r>
                      <a:endParaRPr lang="en-US" sz="105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7F7"/>
                    </a:solidFill>
                  </a:tcPr>
                </a:tc>
                <a:tc>
                  <a:txBody>
                    <a:bodyPr/>
                    <a:lstStyle/>
                    <a:p>
                      <a:pPr indent="0" marL="0">
                        <a:buNone/>
                      </a:pPr>
                      <a:r>
                        <a:rPr lang="en-US" sz="1050" dirty="0">
                          <a:solidFill>
                            <a:srgbClr val="333333"/>
                          </a:solidFill>
                          <a:latin typeface="Arial" pitchFamily="34" charset="0"/>
                          <a:ea typeface="Arial" pitchFamily="34" charset="-122"/>
                          <a:cs typeface="Arial" pitchFamily="34" charset="-120"/>
                        </a:rPr>
                        <a:t>Caso armado al equipo de RF</a:t>
                      </a:r>
                      <a:endParaRPr lang="en-US" sz="105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7F7"/>
                    </a:solidFill>
                  </a:tcPr>
                </a:tc>
              </a:tr>
              <a:tr h="713232">
                <a:tc>
                  <a:txBody>
                    <a:bodyPr/>
                    <a:lstStyle/>
                    <a:p>
                      <a:pPr indent="0" marL="0">
                        <a:buNone/>
                      </a:pPr>
                      <a:r>
                        <a:rPr lang="en-US" sz="1050" b="1" dirty="0">
                          <a:solidFill>
                            <a:srgbClr val="333333"/>
                          </a:solidFill>
                          <a:latin typeface="Arial" pitchFamily="34" charset="0"/>
                          <a:ea typeface="Arial" pitchFamily="34" charset="-122"/>
                          <a:cs typeface="Arial" pitchFamily="34" charset="-120"/>
                        </a:rPr>
                        <a:t>Drops altos</a:t>
                      </a:r>
                      <a:endParaRPr lang="en-US" sz="105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050" dirty="0">
                          <a:solidFill>
                            <a:srgbClr val="333333"/>
                          </a:solidFill>
                          <a:latin typeface="Arial" pitchFamily="34" charset="0"/>
                          <a:ea typeface="Arial" pitchFamily="34" charset="-122"/>
                          <a:cs typeface="Arial" pitchFamily="34" charset="-120"/>
                        </a:rPr>
                        <a:t>PCI limpio y cobertura sin observaciones</a:t>
                      </a:r>
                      <a:endParaRPr lang="en-US" sz="105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050" dirty="0">
                          <a:solidFill>
                            <a:srgbClr val="333333"/>
                          </a:solidFill>
                          <a:latin typeface="Arial" pitchFamily="34" charset="0"/>
                          <a:ea typeface="Arial" pitchFamily="34" charset="-122"/>
                          <a:cs typeface="Arial" pitchFamily="34" charset="-120"/>
                        </a:rPr>
                        <a:t>La causa está fuera de estos dos dominios</a:t>
                      </a:r>
                      <a:endParaRPr lang="en-US" sz="105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050" dirty="0">
                          <a:solidFill>
                            <a:srgbClr val="333333"/>
                          </a:solidFill>
                          <a:latin typeface="Arial" pitchFamily="34" charset="0"/>
                          <a:ea typeface="Arial" pitchFamily="34" charset="-122"/>
                          <a:cs typeface="Arial" pitchFamily="34" charset="-120"/>
                        </a:rPr>
                        <a:t>Baja</a:t>
                      </a:r>
                      <a:endParaRPr lang="en-US" sz="105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050" dirty="0">
                          <a:solidFill>
                            <a:srgbClr val="333333"/>
                          </a:solidFill>
                          <a:latin typeface="Arial" pitchFamily="34" charset="0"/>
                          <a:ea typeface="Arial" pitchFamily="34" charset="-122"/>
                          <a:cs typeface="Arial" pitchFamily="34" charset="-120"/>
                        </a:rPr>
                        <a:t>No proponer acción; seguir la causa dominante de contadores</a:t>
                      </a:r>
                      <a:endParaRPr lang="en-US" sz="105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713232">
                <a:tc>
                  <a:txBody>
                    <a:bodyPr/>
                    <a:lstStyle/>
                    <a:p>
                      <a:pPr indent="0" marL="0">
                        <a:buNone/>
                      </a:pPr>
                      <a:r>
                        <a:rPr lang="en-US" sz="1050" b="1" dirty="0">
                          <a:solidFill>
                            <a:srgbClr val="333333"/>
                          </a:solidFill>
                          <a:latin typeface="Arial" pitchFamily="34" charset="0"/>
                          <a:ea typeface="Arial" pitchFamily="34" charset="-122"/>
                          <a:cs typeface="Arial" pitchFamily="34" charset="-120"/>
                        </a:rPr>
                        <a:t>Todavía sin impacto</a:t>
                      </a:r>
                      <a:endParaRPr lang="en-US" sz="105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7F7"/>
                    </a:solidFill>
                  </a:tcPr>
                </a:tc>
                <a:tc>
                  <a:txBody>
                    <a:bodyPr/>
                    <a:lstStyle/>
                    <a:p>
                      <a:pPr indent="0" marL="0">
                        <a:buNone/>
                      </a:pPr>
                      <a:r>
                        <a:rPr lang="en-US" sz="1050" dirty="0">
                          <a:solidFill>
                            <a:srgbClr val="333333"/>
                          </a:solidFill>
                          <a:latin typeface="Arial" pitchFamily="34" charset="0"/>
                          <a:ea typeface="Arial" pitchFamily="34" charset="-122"/>
                          <a:cs typeface="Arial" pitchFamily="34" charset="-120"/>
                        </a:rPr>
                        <a:t>Conflicto de PCI detectado</a:t>
                      </a:r>
                      <a:endParaRPr lang="en-US" sz="105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7F7"/>
                    </a:solidFill>
                  </a:tcPr>
                </a:tc>
                <a:tc>
                  <a:txBody>
                    <a:bodyPr/>
                    <a:lstStyle/>
                    <a:p>
                      <a:pPr indent="0" marL="0">
                        <a:buNone/>
                      </a:pPr>
                      <a:r>
                        <a:rPr lang="en-US" sz="1050" dirty="0">
                          <a:solidFill>
                            <a:srgbClr val="333333"/>
                          </a:solidFill>
                          <a:latin typeface="Arial" pitchFamily="34" charset="0"/>
                          <a:ea typeface="Arial" pitchFamily="34" charset="-122"/>
                          <a:cs typeface="Arial" pitchFamily="34" charset="-120"/>
                        </a:rPr>
                        <a:t>Riesgo latente</a:t>
                      </a:r>
                      <a:endParaRPr lang="en-US" sz="105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7F7"/>
                    </a:solidFill>
                  </a:tcPr>
                </a:tc>
                <a:tc>
                  <a:txBody>
                    <a:bodyPr/>
                    <a:lstStyle/>
                    <a:p>
                      <a:pPr indent="0" marL="0">
                        <a:buNone/>
                      </a:pPr>
                      <a:r>
                        <a:rPr lang="en-US" sz="1050" dirty="0">
                          <a:solidFill>
                            <a:srgbClr val="333333"/>
                          </a:solidFill>
                          <a:latin typeface="Arial" pitchFamily="34" charset="0"/>
                          <a:ea typeface="Arial" pitchFamily="34" charset="-122"/>
                          <a:cs typeface="Arial" pitchFamily="34" charset="-120"/>
                        </a:rPr>
                        <a:t>Media</a:t>
                      </a:r>
                      <a:endParaRPr lang="en-US" sz="105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7F7"/>
                    </a:solidFill>
                  </a:tcPr>
                </a:tc>
                <a:tc>
                  <a:txBody>
                    <a:bodyPr/>
                    <a:lstStyle/>
                    <a:p>
                      <a:pPr indent="0" marL="0">
                        <a:buNone/>
                      </a:pPr>
                      <a:r>
                        <a:rPr lang="en-US" sz="1050" dirty="0">
                          <a:solidFill>
                            <a:srgbClr val="333333"/>
                          </a:solidFill>
                          <a:latin typeface="Arial" pitchFamily="34" charset="0"/>
                          <a:ea typeface="Arial" pitchFamily="34" charset="-122"/>
                          <a:cs typeface="Arial" pitchFamily="34" charset="-120"/>
                        </a:rPr>
                        <a:t>Corregir antes de que aparezca el impacto</a:t>
                      </a:r>
                      <a:endParaRPr lang="en-US" sz="105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7F7"/>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783080" cy="155448"/>
          </a:xfrm>
          <a:prstGeom prst="rect">
            <a:avLst/>
          </a:prstGeom>
          <a:solidFill>
            <a:srgbClr val="A8C93B"/>
          </a:solidFill>
          <a:ln w="12700">
            <a:solidFill>
              <a:srgbClr val="A8C93B"/>
            </a:solidFill>
            <a:prstDash val="solid"/>
          </a:ln>
        </p:spPr>
      </p:sp>
      <p:sp>
        <p:nvSpPr>
          <p:cNvPr id="3" name="Shape 1"/>
          <p:cNvSpPr/>
          <p:nvPr/>
        </p:nvSpPr>
        <p:spPr>
          <a:xfrm>
            <a:off x="1783080" y="0"/>
            <a:ext cx="2752344" cy="155448"/>
          </a:xfrm>
          <a:prstGeom prst="rect">
            <a:avLst/>
          </a:prstGeom>
          <a:solidFill>
            <a:srgbClr val="E77B26"/>
          </a:solidFill>
          <a:ln w="12700">
            <a:solidFill>
              <a:srgbClr val="E77B26"/>
            </a:solidFill>
            <a:prstDash val="solid"/>
          </a:ln>
        </p:spPr>
      </p:sp>
      <p:sp>
        <p:nvSpPr>
          <p:cNvPr id="4" name="Shape 2"/>
          <p:cNvSpPr/>
          <p:nvPr/>
        </p:nvSpPr>
        <p:spPr>
          <a:xfrm>
            <a:off x="4535424" y="0"/>
            <a:ext cx="2734056" cy="155448"/>
          </a:xfrm>
          <a:prstGeom prst="rect">
            <a:avLst/>
          </a:prstGeom>
          <a:solidFill>
            <a:srgbClr val="F2A81D"/>
          </a:solidFill>
          <a:ln w="12700">
            <a:solidFill>
              <a:srgbClr val="F2A81D"/>
            </a:solidFill>
            <a:prstDash val="solid"/>
          </a:ln>
        </p:spPr>
      </p:sp>
      <p:sp>
        <p:nvSpPr>
          <p:cNvPr id="5" name="Shape 3"/>
          <p:cNvSpPr/>
          <p:nvPr/>
        </p:nvSpPr>
        <p:spPr>
          <a:xfrm>
            <a:off x="7269480" y="0"/>
            <a:ext cx="2734056" cy="155448"/>
          </a:xfrm>
          <a:prstGeom prst="rect">
            <a:avLst/>
          </a:prstGeom>
          <a:solidFill>
            <a:srgbClr val="E23A26"/>
          </a:solidFill>
          <a:ln w="12700">
            <a:solidFill>
              <a:srgbClr val="E23A26"/>
            </a:solidFill>
            <a:prstDash val="solid"/>
          </a:ln>
        </p:spPr>
      </p:sp>
      <p:sp>
        <p:nvSpPr>
          <p:cNvPr id="6" name="Shape 4"/>
          <p:cNvSpPr/>
          <p:nvPr/>
        </p:nvSpPr>
        <p:spPr>
          <a:xfrm>
            <a:off x="10003536" y="0"/>
            <a:ext cx="2185416" cy="155448"/>
          </a:xfrm>
          <a:prstGeom prst="rect">
            <a:avLst/>
          </a:prstGeom>
          <a:solidFill>
            <a:srgbClr val="79C3E4"/>
          </a:solidFill>
          <a:ln w="12700">
            <a:solidFill>
              <a:srgbClr val="79C3E4"/>
            </a:solidFill>
            <a:prstDash val="solid"/>
          </a:ln>
        </p:spPr>
      </p:sp>
      <p:sp>
        <p:nvSpPr>
          <p:cNvPr id="7" name="Shape 5"/>
          <p:cNvSpPr/>
          <p:nvPr/>
        </p:nvSpPr>
        <p:spPr>
          <a:xfrm>
            <a:off x="11356848" y="6053328"/>
            <a:ext cx="512064" cy="512064"/>
          </a:xfrm>
          <a:prstGeom prst="ellipse">
            <a:avLst/>
          </a:prstGeom>
          <a:solidFill>
            <a:srgbClr val="D8261C"/>
          </a:solidFill>
          <a:ln w="12700">
            <a:solidFill>
              <a:srgbClr val="D8261C"/>
            </a:solidFill>
            <a:prstDash val="solid"/>
          </a:ln>
        </p:spPr>
      </p:sp>
      <p:sp>
        <p:nvSpPr>
          <p:cNvPr id="8" name="Text 6"/>
          <p:cNvSpPr/>
          <p:nvPr/>
        </p:nvSpPr>
        <p:spPr>
          <a:xfrm>
            <a:off x="11356848" y="6053328"/>
            <a:ext cx="512064" cy="51206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Claro</a:t>
            </a:r>
            <a:endParaRPr lang="en-US" sz="900" dirty="0"/>
          </a:p>
        </p:txBody>
      </p:sp>
      <p:sp>
        <p:nvSpPr>
          <p:cNvPr id="9" name="Text 7"/>
          <p:cNvSpPr/>
          <p:nvPr/>
        </p:nvSpPr>
        <p:spPr>
          <a:xfrm>
            <a:off x="548640" y="6263640"/>
            <a:ext cx="914400" cy="274320"/>
          </a:xfrm>
          <a:prstGeom prst="rect">
            <a:avLst/>
          </a:prstGeom>
          <a:noFill/>
          <a:ln/>
        </p:spPr>
        <p:txBody>
          <a:bodyPr wrap="square" lIns="0" tIns="0" rIns="0" bIns="0" rtlCol="0" anchor="ctr"/>
          <a:lstStyle/>
          <a:p>
            <a:pPr algn="l" indent="0" marL="0">
              <a:buNone/>
            </a:pPr>
            <a:r>
              <a:rPr lang="en-US" sz="900" dirty="0">
                <a:solidFill>
                  <a:srgbClr val="6B6B6B"/>
                </a:solidFill>
                <a:latin typeface="Arial" pitchFamily="34" charset="0"/>
                <a:ea typeface="Arial" pitchFamily="34" charset="-122"/>
                <a:cs typeface="Arial" pitchFamily="34" charset="-120"/>
              </a:rPr>
              <a:t>8</a:t>
            </a:r>
            <a:endParaRPr lang="en-US" sz="900" dirty="0"/>
          </a:p>
        </p:txBody>
      </p:sp>
      <p:sp>
        <p:nvSpPr>
          <p:cNvPr id="10" name="Text 8"/>
          <p:cNvSpPr/>
          <p:nvPr/>
        </p:nvSpPr>
        <p:spPr>
          <a:xfrm>
            <a:off x="548640" y="384048"/>
            <a:ext cx="11091672" cy="457200"/>
          </a:xfrm>
          <a:prstGeom prst="rect">
            <a:avLst/>
          </a:prstGeom>
          <a:noFill/>
          <a:ln/>
        </p:spPr>
        <p:txBody>
          <a:bodyPr wrap="square" lIns="0" tIns="0" rIns="0" bIns="0" rtlCol="0" anchor="ctr"/>
          <a:lstStyle/>
          <a:p>
            <a:pPr algn="ctr" indent="0" marL="0">
              <a:buNone/>
            </a:pPr>
            <a:r>
              <a:rPr lang="en-US" sz="2400" b="1" dirty="0">
                <a:solidFill>
                  <a:srgbClr val="1A1A1A"/>
                </a:solidFill>
                <a:latin typeface="Arial" pitchFamily="34" charset="0"/>
                <a:ea typeface="Arial" pitchFamily="34" charset="-122"/>
                <a:cs typeface="Arial" pitchFamily="34" charset="-120"/>
              </a:rPr>
              <a:t>Ejemplo de una consulta punta a punta</a:t>
            </a:r>
            <a:endParaRPr lang="en-US" sz="2400" dirty="0"/>
          </a:p>
        </p:txBody>
      </p:sp>
      <p:sp>
        <p:nvSpPr>
          <p:cNvPr id="11" name="Text 9"/>
          <p:cNvSpPr/>
          <p:nvPr/>
        </p:nvSpPr>
        <p:spPr>
          <a:xfrm>
            <a:off x="548640" y="932688"/>
            <a:ext cx="11091672" cy="384048"/>
          </a:xfrm>
          <a:prstGeom prst="rect">
            <a:avLst/>
          </a:prstGeom>
          <a:noFill/>
          <a:ln/>
        </p:spPr>
        <p:txBody>
          <a:bodyPr wrap="square" lIns="0" tIns="0" rIns="0" bIns="0" rtlCol="0" anchor="ctr"/>
          <a:lstStyle/>
          <a:p>
            <a:pPr algn="l" indent="0" marL="0">
              <a:buNone/>
            </a:pPr>
            <a:r>
              <a:rPr lang="en-US" sz="1250" dirty="0">
                <a:solidFill>
                  <a:srgbClr val="333333"/>
                </a:solidFill>
                <a:latin typeface="Arial" pitchFamily="34" charset="0"/>
                <a:ea typeface="Arial" pitchFamily="34" charset="-122"/>
                <a:cs typeface="Arial" pitchFamily="34" charset="-120"/>
              </a:rPr>
              <a:t>Una celda con drops altos, desde la pregunta hasta la verificación.</a:t>
            </a:r>
            <a:endParaRPr lang="en-US" sz="1250" dirty="0"/>
          </a:p>
        </p:txBody>
      </p:sp>
      <p:sp>
        <p:nvSpPr>
          <p:cNvPr id="12" name="Shape 10"/>
          <p:cNvSpPr/>
          <p:nvPr/>
        </p:nvSpPr>
        <p:spPr>
          <a:xfrm>
            <a:off x="1357884" y="1965960"/>
            <a:ext cx="347472" cy="347472"/>
          </a:xfrm>
          <a:prstGeom prst="ellipse">
            <a:avLst/>
          </a:prstGeom>
          <a:solidFill>
            <a:srgbClr val="FFFFFF"/>
          </a:solidFill>
          <a:ln w="12700">
            <a:solidFill>
              <a:srgbClr val="595959"/>
            </a:solidFill>
            <a:prstDash val="solid"/>
          </a:ln>
        </p:spPr>
      </p:sp>
      <p:sp>
        <p:nvSpPr>
          <p:cNvPr id="13" name="Text 11"/>
          <p:cNvSpPr/>
          <p:nvPr/>
        </p:nvSpPr>
        <p:spPr>
          <a:xfrm>
            <a:off x="1357884" y="1965960"/>
            <a:ext cx="347472" cy="347472"/>
          </a:xfrm>
          <a:prstGeom prst="rect">
            <a:avLst/>
          </a:prstGeom>
          <a:noFill/>
          <a:ln/>
        </p:spPr>
        <p:txBody>
          <a:bodyPr wrap="square" lIns="0" tIns="0" rIns="0" bIns="0" rtlCol="0" anchor="ctr"/>
          <a:lstStyle/>
          <a:p>
            <a:pPr algn="ctr" indent="0" marL="0">
              <a:buNone/>
            </a:pPr>
            <a:r>
              <a:rPr lang="en-US" sz="1100" b="1" dirty="0">
                <a:solidFill>
                  <a:srgbClr val="1A1A1A"/>
                </a:solidFill>
                <a:latin typeface="Arial" pitchFamily="34" charset="0"/>
                <a:ea typeface="Arial" pitchFamily="34" charset="-122"/>
                <a:cs typeface="Arial" pitchFamily="34" charset="-120"/>
              </a:rPr>
              <a:t>1</a:t>
            </a:r>
            <a:endParaRPr lang="en-US" sz="1100" dirty="0"/>
          </a:p>
        </p:txBody>
      </p:sp>
      <p:sp>
        <p:nvSpPr>
          <p:cNvPr id="14" name="Shape 12"/>
          <p:cNvSpPr/>
          <p:nvPr/>
        </p:nvSpPr>
        <p:spPr>
          <a:xfrm>
            <a:off x="548640" y="2468880"/>
            <a:ext cx="1965960" cy="1554480"/>
          </a:xfrm>
          <a:prstGeom prst="rect">
            <a:avLst/>
          </a:prstGeom>
          <a:solidFill>
            <a:srgbClr val="FFFFFF"/>
          </a:solidFill>
          <a:ln w="12700">
            <a:solidFill>
              <a:srgbClr val="595959"/>
            </a:solidFill>
            <a:prstDash val="solid"/>
          </a:ln>
        </p:spPr>
      </p:sp>
      <p:sp>
        <p:nvSpPr>
          <p:cNvPr id="15" name="Text 13"/>
          <p:cNvSpPr/>
          <p:nvPr/>
        </p:nvSpPr>
        <p:spPr>
          <a:xfrm>
            <a:off x="621792" y="2468880"/>
            <a:ext cx="1819656" cy="1554480"/>
          </a:xfrm>
          <a:prstGeom prst="rect">
            <a:avLst/>
          </a:prstGeom>
          <a:noFill/>
          <a:ln/>
        </p:spPr>
        <p:txBody>
          <a:bodyPr wrap="square" lIns="0" tIns="0" rIns="0" bIns="0" rtlCol="0" anchor="ctr"/>
          <a:lstStyle/>
          <a:p>
            <a:pPr algn="ctr" indent="0" marL="0">
              <a:lnSpc>
                <a:spcPct val="92000"/>
              </a:lnSpc>
              <a:buNone/>
            </a:pPr>
            <a:r>
              <a:rPr lang="en-US" sz="1000" dirty="0">
                <a:solidFill>
                  <a:srgbClr val="333333"/>
                </a:solidFill>
                <a:latin typeface="Arial" pitchFamily="34" charset="0"/>
                <a:ea typeface="Arial" pitchFamily="34" charset="-122"/>
                <a:cs typeface="Arial" pitchFamily="34" charset="-120"/>
              </a:rPr>
              <a:t>El analista pregunta por una celda con drops altos, en lenguaje natural</a:t>
            </a:r>
            <a:endParaRPr lang="en-US" sz="1000" dirty="0"/>
          </a:p>
        </p:txBody>
      </p:sp>
      <p:sp>
        <p:nvSpPr>
          <p:cNvPr id="16" name="Shape 14"/>
          <p:cNvSpPr/>
          <p:nvPr/>
        </p:nvSpPr>
        <p:spPr>
          <a:xfrm>
            <a:off x="2569464" y="3246120"/>
            <a:ext cx="205740" cy="0"/>
          </a:xfrm>
          <a:prstGeom prst="line">
            <a:avLst/>
          </a:prstGeom>
          <a:noFill/>
          <a:ln w="15875">
            <a:solidFill>
              <a:srgbClr val="8C8C8C"/>
            </a:solidFill>
            <a:prstDash val="solid"/>
            <a:tailEnd type="triangle"/>
          </a:ln>
        </p:spPr>
      </p:sp>
      <p:sp>
        <p:nvSpPr>
          <p:cNvPr id="17" name="Shape 15"/>
          <p:cNvSpPr/>
          <p:nvPr/>
        </p:nvSpPr>
        <p:spPr>
          <a:xfrm>
            <a:off x="3639312" y="1965960"/>
            <a:ext cx="347472" cy="347472"/>
          </a:xfrm>
          <a:prstGeom prst="ellipse">
            <a:avLst/>
          </a:prstGeom>
          <a:solidFill>
            <a:srgbClr val="FFFFFF"/>
          </a:solidFill>
          <a:ln w="12700">
            <a:solidFill>
              <a:srgbClr val="595959"/>
            </a:solidFill>
            <a:prstDash val="solid"/>
          </a:ln>
        </p:spPr>
      </p:sp>
      <p:sp>
        <p:nvSpPr>
          <p:cNvPr id="18" name="Text 16"/>
          <p:cNvSpPr/>
          <p:nvPr/>
        </p:nvSpPr>
        <p:spPr>
          <a:xfrm>
            <a:off x="3639312" y="1965960"/>
            <a:ext cx="347472" cy="347472"/>
          </a:xfrm>
          <a:prstGeom prst="rect">
            <a:avLst/>
          </a:prstGeom>
          <a:noFill/>
          <a:ln/>
        </p:spPr>
        <p:txBody>
          <a:bodyPr wrap="square" lIns="0" tIns="0" rIns="0" bIns="0" rtlCol="0" anchor="ctr"/>
          <a:lstStyle/>
          <a:p>
            <a:pPr algn="ctr" indent="0" marL="0">
              <a:buNone/>
            </a:pPr>
            <a:r>
              <a:rPr lang="en-US" sz="1100" b="1" dirty="0">
                <a:solidFill>
                  <a:srgbClr val="1A1A1A"/>
                </a:solidFill>
                <a:latin typeface="Arial" pitchFamily="34" charset="0"/>
                <a:ea typeface="Arial" pitchFamily="34" charset="-122"/>
                <a:cs typeface="Arial" pitchFamily="34" charset="-120"/>
              </a:rPr>
              <a:t>2</a:t>
            </a:r>
            <a:endParaRPr lang="en-US" sz="1100" dirty="0"/>
          </a:p>
        </p:txBody>
      </p:sp>
      <p:sp>
        <p:nvSpPr>
          <p:cNvPr id="19" name="Shape 17"/>
          <p:cNvSpPr/>
          <p:nvPr/>
        </p:nvSpPr>
        <p:spPr>
          <a:xfrm>
            <a:off x="2830068" y="2468880"/>
            <a:ext cx="1965960" cy="1554480"/>
          </a:xfrm>
          <a:prstGeom prst="rect">
            <a:avLst/>
          </a:prstGeom>
          <a:solidFill>
            <a:srgbClr val="FFFFFF"/>
          </a:solidFill>
          <a:ln w="12700">
            <a:solidFill>
              <a:srgbClr val="595959"/>
            </a:solidFill>
            <a:prstDash val="solid"/>
          </a:ln>
        </p:spPr>
      </p:sp>
      <p:sp>
        <p:nvSpPr>
          <p:cNvPr id="20" name="Text 18"/>
          <p:cNvSpPr/>
          <p:nvPr/>
        </p:nvSpPr>
        <p:spPr>
          <a:xfrm>
            <a:off x="2903220" y="2468880"/>
            <a:ext cx="1819656" cy="1554480"/>
          </a:xfrm>
          <a:prstGeom prst="rect">
            <a:avLst/>
          </a:prstGeom>
          <a:noFill/>
          <a:ln/>
        </p:spPr>
        <p:txBody>
          <a:bodyPr wrap="square" lIns="0" tIns="0" rIns="0" bIns="0" rtlCol="0" anchor="ctr"/>
          <a:lstStyle/>
          <a:p>
            <a:pPr algn="ctr" indent="0" marL="0">
              <a:lnSpc>
                <a:spcPct val="92000"/>
              </a:lnSpc>
              <a:buNone/>
            </a:pPr>
            <a:r>
              <a:rPr lang="en-US" sz="1000" dirty="0">
                <a:solidFill>
                  <a:srgbClr val="333333"/>
                </a:solidFill>
                <a:latin typeface="Arial" pitchFamily="34" charset="0"/>
                <a:ea typeface="Arial" pitchFamily="34" charset="-122"/>
                <a:cs typeface="Arial" pitchFamily="34" charset="-120"/>
              </a:rPr>
              <a:t>El coordinador consulta a los tres módulos sobre esa misma celda</a:t>
            </a:r>
            <a:endParaRPr lang="en-US" sz="1000" dirty="0"/>
          </a:p>
        </p:txBody>
      </p:sp>
      <p:sp>
        <p:nvSpPr>
          <p:cNvPr id="21" name="Shape 19"/>
          <p:cNvSpPr/>
          <p:nvPr/>
        </p:nvSpPr>
        <p:spPr>
          <a:xfrm>
            <a:off x="4850892" y="3246120"/>
            <a:ext cx="205740" cy="0"/>
          </a:xfrm>
          <a:prstGeom prst="line">
            <a:avLst/>
          </a:prstGeom>
          <a:noFill/>
          <a:ln w="15875">
            <a:solidFill>
              <a:srgbClr val="8C8C8C"/>
            </a:solidFill>
            <a:prstDash val="solid"/>
            <a:tailEnd type="triangle"/>
          </a:ln>
        </p:spPr>
      </p:sp>
      <p:sp>
        <p:nvSpPr>
          <p:cNvPr id="22" name="Shape 20"/>
          <p:cNvSpPr/>
          <p:nvPr/>
        </p:nvSpPr>
        <p:spPr>
          <a:xfrm>
            <a:off x="5920740" y="1965960"/>
            <a:ext cx="347472" cy="347472"/>
          </a:xfrm>
          <a:prstGeom prst="ellipse">
            <a:avLst/>
          </a:prstGeom>
          <a:solidFill>
            <a:srgbClr val="FFFFFF"/>
          </a:solidFill>
          <a:ln w="12700">
            <a:solidFill>
              <a:srgbClr val="595959"/>
            </a:solidFill>
            <a:prstDash val="solid"/>
          </a:ln>
        </p:spPr>
      </p:sp>
      <p:sp>
        <p:nvSpPr>
          <p:cNvPr id="23" name="Text 21"/>
          <p:cNvSpPr/>
          <p:nvPr/>
        </p:nvSpPr>
        <p:spPr>
          <a:xfrm>
            <a:off x="5920740" y="1965960"/>
            <a:ext cx="347472" cy="347472"/>
          </a:xfrm>
          <a:prstGeom prst="rect">
            <a:avLst/>
          </a:prstGeom>
          <a:noFill/>
          <a:ln/>
        </p:spPr>
        <p:txBody>
          <a:bodyPr wrap="square" lIns="0" tIns="0" rIns="0" bIns="0" rtlCol="0" anchor="ctr"/>
          <a:lstStyle/>
          <a:p>
            <a:pPr algn="ctr" indent="0" marL="0">
              <a:buNone/>
            </a:pPr>
            <a:r>
              <a:rPr lang="en-US" sz="1100" b="1" dirty="0">
                <a:solidFill>
                  <a:srgbClr val="1A1A1A"/>
                </a:solidFill>
                <a:latin typeface="Arial" pitchFamily="34" charset="0"/>
                <a:ea typeface="Arial" pitchFamily="34" charset="-122"/>
                <a:cs typeface="Arial" pitchFamily="34" charset="-120"/>
              </a:rPr>
              <a:t>3</a:t>
            </a:r>
            <a:endParaRPr lang="en-US" sz="1100" dirty="0"/>
          </a:p>
        </p:txBody>
      </p:sp>
      <p:sp>
        <p:nvSpPr>
          <p:cNvPr id="24" name="Shape 22"/>
          <p:cNvSpPr/>
          <p:nvPr/>
        </p:nvSpPr>
        <p:spPr>
          <a:xfrm>
            <a:off x="5111496" y="2468880"/>
            <a:ext cx="1965960" cy="1554480"/>
          </a:xfrm>
          <a:prstGeom prst="rect">
            <a:avLst/>
          </a:prstGeom>
          <a:solidFill>
            <a:srgbClr val="FFFFFF"/>
          </a:solidFill>
          <a:ln w="12700">
            <a:solidFill>
              <a:srgbClr val="595959"/>
            </a:solidFill>
            <a:prstDash val="solid"/>
          </a:ln>
        </p:spPr>
      </p:sp>
      <p:sp>
        <p:nvSpPr>
          <p:cNvPr id="25" name="Text 23"/>
          <p:cNvSpPr/>
          <p:nvPr/>
        </p:nvSpPr>
        <p:spPr>
          <a:xfrm>
            <a:off x="5184648" y="2468880"/>
            <a:ext cx="1819656" cy="1554480"/>
          </a:xfrm>
          <a:prstGeom prst="rect">
            <a:avLst/>
          </a:prstGeom>
          <a:noFill/>
          <a:ln/>
        </p:spPr>
        <p:txBody>
          <a:bodyPr wrap="square" lIns="0" tIns="0" rIns="0" bIns="0" rtlCol="0" anchor="ctr"/>
          <a:lstStyle/>
          <a:p>
            <a:pPr algn="ctr" indent="0" marL="0">
              <a:lnSpc>
                <a:spcPct val="92000"/>
              </a:lnSpc>
              <a:buNone/>
            </a:pPr>
            <a:r>
              <a:rPr lang="en-US" sz="1000" dirty="0">
                <a:solidFill>
                  <a:srgbClr val="333333"/>
                </a:solidFill>
                <a:latin typeface="Arial" pitchFamily="34" charset="0"/>
                <a:ea typeface="Arial" pitchFamily="34" charset="-122"/>
                <a:cs typeface="Arial" pitchFamily="34" charset="-120"/>
              </a:rPr>
              <a:t>Drops: crítico por accesos fallidos</a:t>
            </a:r>
            <a:endParaRPr lang="en-US" sz="1000" dirty="0"/>
          </a:p>
          <a:p>
            <a:pPr algn="ctr" indent="0" marL="0">
              <a:lnSpc>
                <a:spcPct val="92000"/>
              </a:lnSpc>
              <a:buNone/>
            </a:pPr>
            <a:r>
              <a:rPr lang="en-US" sz="1000" dirty="0">
                <a:solidFill>
                  <a:srgbClr val="333333"/>
                </a:solidFill>
                <a:latin typeface="Arial" pitchFamily="34" charset="0"/>
                <a:ea typeface="Arial" pitchFamily="34" charset="-122"/>
                <a:cs typeface="Arial" pitchFamily="34" charset="-120"/>
              </a:rPr>
              <a:t>Cobertura: sin observaciones</a:t>
            </a:r>
            <a:endParaRPr lang="en-US" sz="1000" dirty="0"/>
          </a:p>
          <a:p>
            <a:pPr algn="ctr" indent="0" marL="0">
              <a:lnSpc>
                <a:spcPct val="92000"/>
              </a:lnSpc>
              <a:buNone/>
            </a:pPr>
            <a:r>
              <a:rPr lang="en-US" sz="1000" dirty="0">
                <a:solidFill>
                  <a:srgbClr val="333333"/>
                </a:solidFill>
                <a:latin typeface="Arial" pitchFamily="34" charset="0"/>
                <a:ea typeface="Arial" pitchFamily="34" charset="-122"/>
                <a:cs typeface="Arial" pitchFamily="34" charset="-120"/>
              </a:rPr>
              <a:t>PCI: colisión con una vecina</a:t>
            </a:r>
            <a:endParaRPr lang="en-US" sz="1000" dirty="0"/>
          </a:p>
        </p:txBody>
      </p:sp>
      <p:sp>
        <p:nvSpPr>
          <p:cNvPr id="26" name="Shape 24"/>
          <p:cNvSpPr/>
          <p:nvPr/>
        </p:nvSpPr>
        <p:spPr>
          <a:xfrm>
            <a:off x="7132320" y="3246120"/>
            <a:ext cx="205740" cy="0"/>
          </a:xfrm>
          <a:prstGeom prst="line">
            <a:avLst/>
          </a:prstGeom>
          <a:noFill/>
          <a:ln w="15875">
            <a:solidFill>
              <a:srgbClr val="8C8C8C"/>
            </a:solidFill>
            <a:prstDash val="solid"/>
            <a:tailEnd type="triangle"/>
          </a:ln>
        </p:spPr>
      </p:sp>
      <p:sp>
        <p:nvSpPr>
          <p:cNvPr id="27" name="Shape 25"/>
          <p:cNvSpPr/>
          <p:nvPr/>
        </p:nvSpPr>
        <p:spPr>
          <a:xfrm>
            <a:off x="8202168" y="1965960"/>
            <a:ext cx="347472" cy="347472"/>
          </a:xfrm>
          <a:prstGeom prst="ellipse">
            <a:avLst/>
          </a:prstGeom>
          <a:solidFill>
            <a:srgbClr val="FFFFFF"/>
          </a:solidFill>
          <a:ln w="12700">
            <a:solidFill>
              <a:srgbClr val="595959"/>
            </a:solidFill>
            <a:prstDash val="solid"/>
          </a:ln>
        </p:spPr>
      </p:sp>
      <p:sp>
        <p:nvSpPr>
          <p:cNvPr id="28" name="Text 26"/>
          <p:cNvSpPr/>
          <p:nvPr/>
        </p:nvSpPr>
        <p:spPr>
          <a:xfrm>
            <a:off x="8202168" y="1965960"/>
            <a:ext cx="347472" cy="347472"/>
          </a:xfrm>
          <a:prstGeom prst="rect">
            <a:avLst/>
          </a:prstGeom>
          <a:noFill/>
          <a:ln/>
        </p:spPr>
        <p:txBody>
          <a:bodyPr wrap="square" lIns="0" tIns="0" rIns="0" bIns="0" rtlCol="0" anchor="ctr"/>
          <a:lstStyle/>
          <a:p>
            <a:pPr algn="ctr" indent="0" marL="0">
              <a:buNone/>
            </a:pPr>
            <a:r>
              <a:rPr lang="en-US" sz="1100" b="1" dirty="0">
                <a:solidFill>
                  <a:srgbClr val="1A1A1A"/>
                </a:solidFill>
                <a:latin typeface="Arial" pitchFamily="34" charset="0"/>
                <a:ea typeface="Arial" pitchFamily="34" charset="-122"/>
                <a:cs typeface="Arial" pitchFamily="34" charset="-120"/>
              </a:rPr>
              <a:t>4</a:t>
            </a:r>
            <a:endParaRPr lang="en-US" sz="1100" dirty="0"/>
          </a:p>
        </p:txBody>
      </p:sp>
      <p:sp>
        <p:nvSpPr>
          <p:cNvPr id="29" name="Shape 27"/>
          <p:cNvSpPr/>
          <p:nvPr/>
        </p:nvSpPr>
        <p:spPr>
          <a:xfrm>
            <a:off x="7392924" y="2468880"/>
            <a:ext cx="1965960" cy="1554480"/>
          </a:xfrm>
          <a:prstGeom prst="rect">
            <a:avLst/>
          </a:prstGeom>
          <a:solidFill>
            <a:srgbClr val="FFFFFF"/>
          </a:solidFill>
          <a:ln w="12700">
            <a:solidFill>
              <a:srgbClr val="595959"/>
            </a:solidFill>
            <a:prstDash val="solid"/>
          </a:ln>
        </p:spPr>
      </p:sp>
      <p:sp>
        <p:nvSpPr>
          <p:cNvPr id="30" name="Text 28"/>
          <p:cNvSpPr/>
          <p:nvPr/>
        </p:nvSpPr>
        <p:spPr>
          <a:xfrm>
            <a:off x="7466076" y="2468880"/>
            <a:ext cx="1819656" cy="1554480"/>
          </a:xfrm>
          <a:prstGeom prst="rect">
            <a:avLst/>
          </a:prstGeom>
          <a:noFill/>
          <a:ln/>
        </p:spPr>
        <p:txBody>
          <a:bodyPr wrap="square" lIns="0" tIns="0" rIns="0" bIns="0" rtlCol="0" anchor="ctr"/>
          <a:lstStyle/>
          <a:p>
            <a:pPr algn="ctr" indent="0" marL="0">
              <a:lnSpc>
                <a:spcPct val="92000"/>
              </a:lnSpc>
              <a:buNone/>
            </a:pPr>
            <a:r>
              <a:rPr lang="en-US" sz="1000" dirty="0">
                <a:solidFill>
                  <a:srgbClr val="333333"/>
                </a:solidFill>
                <a:latin typeface="Arial" pitchFamily="34" charset="0"/>
                <a:ea typeface="Arial" pitchFamily="34" charset="-122"/>
                <a:cs typeface="Arial" pitchFamily="34" charset="-120"/>
              </a:rPr>
              <a:t>Conclusión: el conflicto de PCI explica los drops, con la evidencia de cada módulo</a:t>
            </a:r>
            <a:endParaRPr lang="en-US" sz="1000" dirty="0"/>
          </a:p>
        </p:txBody>
      </p:sp>
      <p:sp>
        <p:nvSpPr>
          <p:cNvPr id="31" name="Shape 29"/>
          <p:cNvSpPr/>
          <p:nvPr/>
        </p:nvSpPr>
        <p:spPr>
          <a:xfrm>
            <a:off x="9413748" y="3246120"/>
            <a:ext cx="205740" cy="0"/>
          </a:xfrm>
          <a:prstGeom prst="line">
            <a:avLst/>
          </a:prstGeom>
          <a:noFill/>
          <a:ln w="15875">
            <a:solidFill>
              <a:srgbClr val="8C8C8C"/>
            </a:solidFill>
            <a:prstDash val="solid"/>
            <a:tailEnd type="triangle"/>
          </a:ln>
        </p:spPr>
      </p:sp>
      <p:sp>
        <p:nvSpPr>
          <p:cNvPr id="32" name="Shape 30"/>
          <p:cNvSpPr/>
          <p:nvPr/>
        </p:nvSpPr>
        <p:spPr>
          <a:xfrm>
            <a:off x="10483596" y="1965960"/>
            <a:ext cx="347472" cy="347472"/>
          </a:xfrm>
          <a:prstGeom prst="ellipse">
            <a:avLst/>
          </a:prstGeom>
          <a:solidFill>
            <a:srgbClr val="FFFFFF"/>
          </a:solidFill>
          <a:ln w="12700">
            <a:solidFill>
              <a:srgbClr val="595959"/>
            </a:solidFill>
            <a:prstDash val="solid"/>
          </a:ln>
        </p:spPr>
      </p:sp>
      <p:sp>
        <p:nvSpPr>
          <p:cNvPr id="33" name="Text 31"/>
          <p:cNvSpPr/>
          <p:nvPr/>
        </p:nvSpPr>
        <p:spPr>
          <a:xfrm>
            <a:off x="10483596" y="1965960"/>
            <a:ext cx="347472" cy="347472"/>
          </a:xfrm>
          <a:prstGeom prst="rect">
            <a:avLst/>
          </a:prstGeom>
          <a:noFill/>
          <a:ln/>
        </p:spPr>
        <p:txBody>
          <a:bodyPr wrap="square" lIns="0" tIns="0" rIns="0" bIns="0" rtlCol="0" anchor="ctr"/>
          <a:lstStyle/>
          <a:p>
            <a:pPr algn="ctr" indent="0" marL="0">
              <a:buNone/>
            </a:pPr>
            <a:r>
              <a:rPr lang="en-US" sz="1100" b="1" dirty="0">
                <a:solidFill>
                  <a:srgbClr val="1A1A1A"/>
                </a:solidFill>
                <a:latin typeface="Arial" pitchFamily="34" charset="0"/>
                <a:ea typeface="Arial" pitchFamily="34" charset="-122"/>
                <a:cs typeface="Arial" pitchFamily="34" charset="-120"/>
              </a:rPr>
              <a:t>5</a:t>
            </a:r>
            <a:endParaRPr lang="en-US" sz="1100" dirty="0"/>
          </a:p>
        </p:txBody>
      </p:sp>
      <p:sp>
        <p:nvSpPr>
          <p:cNvPr id="34" name="Shape 32"/>
          <p:cNvSpPr/>
          <p:nvPr/>
        </p:nvSpPr>
        <p:spPr>
          <a:xfrm>
            <a:off x="9674352" y="2468880"/>
            <a:ext cx="1965960" cy="1554480"/>
          </a:xfrm>
          <a:prstGeom prst="rect">
            <a:avLst/>
          </a:prstGeom>
          <a:solidFill>
            <a:srgbClr val="FFFFFF"/>
          </a:solidFill>
          <a:ln w="12700">
            <a:solidFill>
              <a:srgbClr val="595959"/>
            </a:solidFill>
            <a:prstDash val="solid"/>
          </a:ln>
        </p:spPr>
      </p:sp>
      <p:sp>
        <p:nvSpPr>
          <p:cNvPr id="35" name="Text 33"/>
          <p:cNvSpPr/>
          <p:nvPr/>
        </p:nvSpPr>
        <p:spPr>
          <a:xfrm>
            <a:off x="9747504" y="2468880"/>
            <a:ext cx="1819656" cy="1554480"/>
          </a:xfrm>
          <a:prstGeom prst="rect">
            <a:avLst/>
          </a:prstGeom>
          <a:noFill/>
          <a:ln/>
        </p:spPr>
        <p:txBody>
          <a:bodyPr wrap="square" lIns="0" tIns="0" rIns="0" bIns="0" rtlCol="0" anchor="ctr"/>
          <a:lstStyle/>
          <a:p>
            <a:pPr algn="ctr" indent="0" marL="0">
              <a:lnSpc>
                <a:spcPct val="92000"/>
              </a:lnSpc>
              <a:buNone/>
            </a:pPr>
            <a:r>
              <a:rPr lang="en-US" sz="1000" dirty="0">
                <a:solidFill>
                  <a:srgbClr val="333333"/>
                </a:solidFill>
                <a:latin typeface="Arial" pitchFamily="34" charset="0"/>
                <a:ea typeface="Arial" pitchFamily="34" charset="-122"/>
                <a:cs typeface="Arial" pitchFamily="34" charset="-120"/>
              </a:rPr>
              <a:t>Propuesta de PCI nuevo. La aplica una persona y se vuelve a medir a las 24-48 h</a:t>
            </a:r>
            <a:endParaRPr lang="en-US" sz="1000" dirty="0"/>
          </a:p>
        </p:txBody>
      </p:sp>
      <p:sp>
        <p:nvSpPr>
          <p:cNvPr id="36" name="Text 34"/>
          <p:cNvSpPr/>
          <p:nvPr/>
        </p:nvSpPr>
        <p:spPr>
          <a:xfrm>
            <a:off x="548640" y="4434840"/>
            <a:ext cx="11091672" cy="365760"/>
          </a:xfrm>
          <a:prstGeom prst="rect">
            <a:avLst/>
          </a:prstGeom>
          <a:noFill/>
          <a:ln/>
        </p:spPr>
        <p:txBody>
          <a:bodyPr wrap="square" lIns="0" tIns="0" rIns="0" bIns="0" rtlCol="0" anchor="ctr"/>
          <a:lstStyle/>
          <a:p>
            <a:pPr algn="l" indent="0" marL="0">
              <a:buNone/>
            </a:pPr>
            <a:r>
              <a:rPr lang="en-US" sz="1200" b="1" dirty="0">
                <a:solidFill>
                  <a:srgbClr val="1A1A1A"/>
                </a:solidFill>
                <a:latin typeface="Arial" pitchFamily="34" charset="0"/>
                <a:ea typeface="Arial" pitchFamily="34" charset="-122"/>
                <a:cs typeface="Arial" pitchFamily="34" charset="-120"/>
              </a:rPr>
              <a:t>Qué gana el analista:  </a:t>
            </a:r>
            <a:pPr algn="l" indent="0" marL="0">
              <a:buNone/>
            </a:pPr>
            <a:r>
              <a:rPr lang="en-US" sz="1200" dirty="0">
                <a:solidFill>
                  <a:srgbClr val="333333"/>
                </a:solidFill>
                <a:latin typeface="Arial" pitchFamily="34" charset="0"/>
                <a:ea typeface="Arial" pitchFamily="34" charset="-122"/>
                <a:cs typeface="Arial" pitchFamily="34" charset="-120"/>
              </a:rPr>
              <a:t>el cruce ya viene hecho y con su evidencia. El criterio de aplicar o no aplicar sigue siendo de él.</a:t>
            </a:r>
            <a:endParaRPr lang="en-US" sz="1200" dirty="0"/>
          </a:p>
        </p:txBody>
      </p:sp>
      <p:sp>
        <p:nvSpPr>
          <p:cNvPr id="37" name="Text 35"/>
          <p:cNvSpPr/>
          <p:nvPr/>
        </p:nvSpPr>
        <p:spPr>
          <a:xfrm>
            <a:off x="548640" y="4846320"/>
            <a:ext cx="11091672" cy="365760"/>
          </a:xfrm>
          <a:prstGeom prst="rect">
            <a:avLst/>
          </a:prstGeom>
          <a:noFill/>
          <a:ln/>
        </p:spPr>
        <p:txBody>
          <a:bodyPr wrap="square" lIns="0" tIns="0" rIns="0" bIns="0" rtlCol="0" anchor="ctr"/>
          <a:lstStyle/>
          <a:p>
            <a:pPr algn="l" indent="0" marL="0">
              <a:buNone/>
            </a:pPr>
            <a:r>
              <a:rPr lang="en-US" sz="1100" dirty="0">
                <a:solidFill>
                  <a:srgbClr val="6B6B6B"/>
                </a:solidFill>
                <a:latin typeface="Arial" pitchFamily="34" charset="0"/>
                <a:ea typeface="Arial" pitchFamily="34" charset="-122"/>
                <a:cs typeface="Arial" pitchFamily="34" charset="-120"/>
              </a:rPr>
              <a:t>La re-medición a 24-48 h cierra el circuito: si el drop no bajó, la hipótesis estaba mal y queda registrado.</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783080" cy="155448"/>
          </a:xfrm>
          <a:prstGeom prst="rect">
            <a:avLst/>
          </a:prstGeom>
          <a:solidFill>
            <a:srgbClr val="A8C93B"/>
          </a:solidFill>
          <a:ln w="12700">
            <a:solidFill>
              <a:srgbClr val="A8C93B"/>
            </a:solidFill>
            <a:prstDash val="solid"/>
          </a:ln>
        </p:spPr>
      </p:sp>
      <p:sp>
        <p:nvSpPr>
          <p:cNvPr id="3" name="Shape 1"/>
          <p:cNvSpPr/>
          <p:nvPr/>
        </p:nvSpPr>
        <p:spPr>
          <a:xfrm>
            <a:off x="1783080" y="0"/>
            <a:ext cx="2752344" cy="155448"/>
          </a:xfrm>
          <a:prstGeom prst="rect">
            <a:avLst/>
          </a:prstGeom>
          <a:solidFill>
            <a:srgbClr val="E77B26"/>
          </a:solidFill>
          <a:ln w="12700">
            <a:solidFill>
              <a:srgbClr val="E77B26"/>
            </a:solidFill>
            <a:prstDash val="solid"/>
          </a:ln>
        </p:spPr>
      </p:sp>
      <p:sp>
        <p:nvSpPr>
          <p:cNvPr id="4" name="Shape 2"/>
          <p:cNvSpPr/>
          <p:nvPr/>
        </p:nvSpPr>
        <p:spPr>
          <a:xfrm>
            <a:off x="4535424" y="0"/>
            <a:ext cx="2734056" cy="155448"/>
          </a:xfrm>
          <a:prstGeom prst="rect">
            <a:avLst/>
          </a:prstGeom>
          <a:solidFill>
            <a:srgbClr val="F2A81D"/>
          </a:solidFill>
          <a:ln w="12700">
            <a:solidFill>
              <a:srgbClr val="F2A81D"/>
            </a:solidFill>
            <a:prstDash val="solid"/>
          </a:ln>
        </p:spPr>
      </p:sp>
      <p:sp>
        <p:nvSpPr>
          <p:cNvPr id="5" name="Shape 3"/>
          <p:cNvSpPr/>
          <p:nvPr/>
        </p:nvSpPr>
        <p:spPr>
          <a:xfrm>
            <a:off x="7269480" y="0"/>
            <a:ext cx="2734056" cy="155448"/>
          </a:xfrm>
          <a:prstGeom prst="rect">
            <a:avLst/>
          </a:prstGeom>
          <a:solidFill>
            <a:srgbClr val="E23A26"/>
          </a:solidFill>
          <a:ln w="12700">
            <a:solidFill>
              <a:srgbClr val="E23A26"/>
            </a:solidFill>
            <a:prstDash val="solid"/>
          </a:ln>
        </p:spPr>
      </p:sp>
      <p:sp>
        <p:nvSpPr>
          <p:cNvPr id="6" name="Shape 4"/>
          <p:cNvSpPr/>
          <p:nvPr/>
        </p:nvSpPr>
        <p:spPr>
          <a:xfrm>
            <a:off x="10003536" y="0"/>
            <a:ext cx="2185416" cy="155448"/>
          </a:xfrm>
          <a:prstGeom prst="rect">
            <a:avLst/>
          </a:prstGeom>
          <a:solidFill>
            <a:srgbClr val="79C3E4"/>
          </a:solidFill>
          <a:ln w="12700">
            <a:solidFill>
              <a:srgbClr val="79C3E4"/>
            </a:solidFill>
            <a:prstDash val="solid"/>
          </a:ln>
        </p:spPr>
      </p:sp>
      <p:sp>
        <p:nvSpPr>
          <p:cNvPr id="7" name="Shape 5"/>
          <p:cNvSpPr/>
          <p:nvPr/>
        </p:nvSpPr>
        <p:spPr>
          <a:xfrm>
            <a:off x="11356848" y="6053328"/>
            <a:ext cx="512064" cy="512064"/>
          </a:xfrm>
          <a:prstGeom prst="ellipse">
            <a:avLst/>
          </a:prstGeom>
          <a:solidFill>
            <a:srgbClr val="D8261C"/>
          </a:solidFill>
          <a:ln w="12700">
            <a:solidFill>
              <a:srgbClr val="D8261C"/>
            </a:solidFill>
            <a:prstDash val="solid"/>
          </a:ln>
        </p:spPr>
      </p:sp>
      <p:sp>
        <p:nvSpPr>
          <p:cNvPr id="8" name="Text 6"/>
          <p:cNvSpPr/>
          <p:nvPr/>
        </p:nvSpPr>
        <p:spPr>
          <a:xfrm>
            <a:off x="11356848" y="6053328"/>
            <a:ext cx="512064" cy="51206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Claro</a:t>
            </a:r>
            <a:endParaRPr lang="en-US" sz="900" dirty="0"/>
          </a:p>
        </p:txBody>
      </p:sp>
      <p:sp>
        <p:nvSpPr>
          <p:cNvPr id="9" name="Text 7"/>
          <p:cNvSpPr/>
          <p:nvPr/>
        </p:nvSpPr>
        <p:spPr>
          <a:xfrm>
            <a:off x="548640" y="6263640"/>
            <a:ext cx="914400" cy="274320"/>
          </a:xfrm>
          <a:prstGeom prst="rect">
            <a:avLst/>
          </a:prstGeom>
          <a:noFill/>
          <a:ln/>
        </p:spPr>
        <p:txBody>
          <a:bodyPr wrap="square" lIns="0" tIns="0" rIns="0" bIns="0" rtlCol="0" anchor="ctr"/>
          <a:lstStyle/>
          <a:p>
            <a:pPr algn="l" indent="0" marL="0">
              <a:buNone/>
            </a:pPr>
            <a:r>
              <a:rPr lang="en-US" sz="900" dirty="0">
                <a:solidFill>
                  <a:srgbClr val="6B6B6B"/>
                </a:solidFill>
                <a:latin typeface="Arial" pitchFamily="34" charset="0"/>
                <a:ea typeface="Arial" pitchFamily="34" charset="-122"/>
                <a:cs typeface="Arial" pitchFamily="34" charset="-120"/>
              </a:rPr>
              <a:t>9</a:t>
            </a:r>
            <a:endParaRPr lang="en-US" sz="900" dirty="0"/>
          </a:p>
        </p:txBody>
      </p:sp>
      <p:sp>
        <p:nvSpPr>
          <p:cNvPr id="10" name="Text 8"/>
          <p:cNvSpPr/>
          <p:nvPr/>
        </p:nvSpPr>
        <p:spPr>
          <a:xfrm>
            <a:off x="548640" y="384048"/>
            <a:ext cx="11091672" cy="457200"/>
          </a:xfrm>
          <a:prstGeom prst="rect">
            <a:avLst/>
          </a:prstGeom>
          <a:noFill/>
          <a:ln/>
        </p:spPr>
        <p:txBody>
          <a:bodyPr wrap="square" lIns="0" tIns="0" rIns="0" bIns="0" rtlCol="0" anchor="ctr"/>
          <a:lstStyle/>
          <a:p>
            <a:pPr algn="ctr" indent="0" marL="0">
              <a:buNone/>
            </a:pPr>
            <a:r>
              <a:rPr lang="en-US" sz="2400" b="1" dirty="0">
                <a:solidFill>
                  <a:srgbClr val="1A1A1A"/>
                </a:solidFill>
                <a:latin typeface="Arial" pitchFamily="34" charset="0"/>
                <a:ea typeface="Arial" pitchFamily="34" charset="-122"/>
                <a:cs typeface="Arial" pitchFamily="34" charset="-120"/>
              </a:rPr>
              <a:t>Alcance de la propuesta</a:t>
            </a:r>
            <a:endParaRPr lang="en-US" sz="2400" dirty="0"/>
          </a:p>
        </p:txBody>
      </p:sp>
      <p:sp>
        <p:nvSpPr>
          <p:cNvPr id="11" name="Text 9"/>
          <p:cNvSpPr/>
          <p:nvPr/>
        </p:nvSpPr>
        <p:spPr>
          <a:xfrm>
            <a:off x="548640" y="932688"/>
            <a:ext cx="11091672" cy="384048"/>
          </a:xfrm>
          <a:prstGeom prst="rect">
            <a:avLst/>
          </a:prstGeom>
          <a:noFill/>
          <a:ln/>
        </p:spPr>
        <p:txBody>
          <a:bodyPr wrap="square" lIns="0" tIns="0" rIns="0" bIns="0" rtlCol="0" anchor="ctr"/>
          <a:lstStyle/>
          <a:p>
            <a:pPr algn="l" indent="0" marL="0">
              <a:buNone/>
            </a:pPr>
            <a:r>
              <a:rPr lang="en-US" sz="1250" dirty="0">
                <a:solidFill>
                  <a:srgbClr val="333333"/>
                </a:solidFill>
                <a:latin typeface="Arial" pitchFamily="34" charset="0"/>
                <a:ea typeface="Arial" pitchFamily="34" charset="-122"/>
                <a:cs typeface="Arial" pitchFamily="34" charset="-120"/>
              </a:rPr>
              <a:t>Prefiero dejar los límites por escrito antes de empezar, para que no haya expectativas distintas a mitad de camino.</a:t>
            </a:r>
            <a:endParaRPr lang="en-US" sz="12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914400"/>
        </p:xfrm>
        <a:graphic>
          <a:graphicData uri="http://schemas.openxmlformats.org/drawingml/2006/table">
            <a:tbl>
              <a:tblPr/>
              <a:tblGrid>
                <a:gridCol w="5545836"/>
                <a:gridCol w="5545836"/>
              </a:tblGrid>
              <a:tr h="411480">
                <a:tc>
                  <a:txBody>
                    <a:bodyPr/>
                    <a:lstStyle/>
                    <a:p>
                      <a:pPr indent="0" marL="0">
                        <a:buNone/>
                      </a:pPr>
                      <a:r>
                        <a:rPr lang="en-US" sz="1100" b="1" dirty="0">
                          <a:solidFill>
                            <a:srgbClr val="1A1A1A"/>
                          </a:solidFill>
                          <a:latin typeface="Arial" pitchFamily="34" charset="0"/>
                          <a:ea typeface="Arial" pitchFamily="34" charset="-122"/>
                          <a:cs typeface="Arial" pitchFamily="34" charset="-120"/>
                        </a:rPr>
                        <a:t>Sí incluye</a:t>
                      </a:r>
                      <a:endParaRPr lang="en-US" sz="110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EDED"/>
                    </a:solidFill>
                  </a:tcPr>
                </a:tc>
                <a:tc>
                  <a:txBody>
                    <a:bodyPr/>
                    <a:lstStyle/>
                    <a:p>
                      <a:pPr indent="0" marL="0">
                        <a:buNone/>
                      </a:pPr>
                      <a:r>
                        <a:rPr lang="en-US" sz="1100" b="1" dirty="0">
                          <a:solidFill>
                            <a:srgbClr val="1A1A1A"/>
                          </a:solidFill>
                          <a:latin typeface="Arial" pitchFamily="34" charset="0"/>
                          <a:ea typeface="Arial" pitchFamily="34" charset="-122"/>
                          <a:cs typeface="Arial" pitchFamily="34" charset="-120"/>
                        </a:rPr>
                        <a:t>No incluye</a:t>
                      </a:r>
                      <a:endParaRPr lang="en-US" sz="110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EDED"/>
                    </a:solidFill>
                  </a:tcPr>
                </a:tc>
              </a:tr>
              <a:tr h="777240">
                <a:tc>
                  <a:txBody>
                    <a:bodyPr/>
                    <a:lstStyle/>
                    <a:p>
                      <a:pPr indent="0" marL="0">
                        <a:buNone/>
                      </a:pPr>
                      <a:r>
                        <a:rPr lang="en-US" sz="1100" dirty="0">
                          <a:solidFill>
                            <a:srgbClr val="333333"/>
                          </a:solidFill>
                          <a:latin typeface="Arial" pitchFamily="34" charset="0"/>
                          <a:ea typeface="Arial" pitchFamily="34" charset="-122"/>
                          <a:cs typeface="Arial" pitchFamily="34" charset="-120"/>
                        </a:rPr>
                        <a:t>Agregar el módulo de cobertura al coordinador, arrancando con datos de prueba</a:t>
                      </a:r>
                      <a:endParaRPr lang="en-US" sz="110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7F7"/>
                    </a:solidFill>
                  </a:tcPr>
                </a:tc>
                <a:tc>
                  <a:txBody>
                    <a:bodyPr/>
                    <a:lstStyle/>
                    <a:p>
                      <a:pPr indent="0" marL="0">
                        <a:buNone/>
                      </a:pPr>
                      <a:r>
                        <a:rPr lang="en-US" sz="1100" dirty="0">
                          <a:solidFill>
                            <a:srgbClr val="333333"/>
                          </a:solidFill>
                          <a:latin typeface="Arial" pitchFamily="34" charset="0"/>
                          <a:ea typeface="Arial" pitchFamily="34" charset="-122"/>
                          <a:cs typeface="Arial" pitchFamily="34" charset="-120"/>
                        </a:rPr>
                        <a:t>Cambiar parámetros de RF: tilt, potencia y azimut siguen en las herramientas del proveedor</a:t>
                      </a:r>
                      <a:endParaRPr lang="en-US" sz="110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7F7"/>
                    </a:solidFill>
                  </a:tcPr>
                </a:tc>
              </a:tr>
              <a:tr h="777240">
                <a:tc>
                  <a:txBody>
                    <a:bodyPr/>
                    <a:lstStyle/>
                    <a:p>
                      <a:pPr indent="0" marL="0">
                        <a:buNone/>
                      </a:pPr>
                      <a:r>
                        <a:rPr lang="en-US" sz="1100" dirty="0">
                          <a:solidFill>
                            <a:srgbClr val="333333"/>
                          </a:solidFill>
                          <a:latin typeface="Arial" pitchFamily="34" charset="0"/>
                          <a:ea typeface="Arial" pitchFamily="34" charset="-122"/>
                          <a:cs typeface="Arial" pitchFamily="34" charset="-120"/>
                        </a:rPr>
                        <a:t>Conectar por interfaz con la herramienta de PCI/RSI que ya usamos, en modo consulta y simulación</a:t>
                      </a:r>
                      <a:endParaRPr lang="en-US" sz="110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00" dirty="0">
                          <a:solidFill>
                            <a:srgbClr val="333333"/>
                          </a:solidFill>
                          <a:latin typeface="Arial" pitchFamily="34" charset="0"/>
                          <a:ea typeface="Arial" pitchFamily="34" charset="-122"/>
                          <a:cs typeface="Arial" pitchFamily="34" charset="-120"/>
                        </a:rPr>
                        <a:t>Modificar el motor de PCI existente: se consulta, no se toca</a:t>
                      </a:r>
                      <a:endParaRPr lang="en-US" sz="110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777240">
                <a:tc>
                  <a:txBody>
                    <a:bodyPr/>
                    <a:lstStyle/>
                    <a:p>
                      <a:pPr indent="0" marL="0">
                        <a:buNone/>
                      </a:pPr>
                      <a:r>
                        <a:rPr lang="en-US" sz="1100" dirty="0">
                          <a:solidFill>
                            <a:srgbClr val="333333"/>
                          </a:solidFill>
                          <a:latin typeface="Arial" pitchFamily="34" charset="0"/>
                          <a:ea typeface="Arial" pitchFamily="34" charset="-122"/>
                          <a:cs typeface="Arial" pitchFamily="34" charset="-120"/>
                        </a:rPr>
                        <a:t>Las reglas de cruce documentadas, revisables y ajustables por el área</a:t>
                      </a:r>
                      <a:endParaRPr lang="en-US" sz="110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7F7"/>
                    </a:solidFill>
                  </a:tcPr>
                </a:tc>
                <a:tc>
                  <a:txBody>
                    <a:bodyPr/>
                    <a:lstStyle/>
                    <a:p>
                      <a:pPr indent="0" marL="0">
                        <a:buNone/>
                      </a:pPr>
                      <a:r>
                        <a:rPr lang="en-US" sz="1100" dirty="0">
                          <a:solidFill>
                            <a:srgbClr val="333333"/>
                          </a:solidFill>
                          <a:latin typeface="Arial" pitchFamily="34" charset="0"/>
                          <a:ea typeface="Arial" pitchFamily="34" charset="-122"/>
                          <a:cs typeface="Arial" pitchFamily="34" charset="-120"/>
                        </a:rPr>
                        <a:t>Reemplazar el criterio del analista: toda corrección requiere aprobación humana</a:t>
                      </a:r>
                      <a:endParaRPr lang="en-US" sz="110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7F7"/>
                    </a:solidFill>
                  </a:tcPr>
                </a:tc>
              </a:tr>
              <a:tr h="777240">
                <a:tc>
                  <a:txBody>
                    <a:bodyPr/>
                    <a:lstStyle/>
                    <a:p>
                      <a:pPr indent="0" marL="0">
                        <a:buNone/>
                      </a:pPr>
                      <a:r>
                        <a:rPr lang="en-US" sz="1100" dirty="0">
                          <a:solidFill>
                            <a:srgbClr val="333333"/>
                          </a:solidFill>
                          <a:latin typeface="Arial" pitchFamily="34" charset="0"/>
                          <a:ea typeface="Arial" pitchFamily="34" charset="-122"/>
                          <a:cs typeface="Arial" pitchFamily="34" charset="-120"/>
                        </a:rPr>
                        <a:t>Registro de cada consulta, los datos usados y la propuesta generada</a:t>
                      </a:r>
                      <a:endParaRPr lang="en-US" sz="110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00" dirty="0">
                          <a:solidFill>
                            <a:srgbClr val="333333"/>
                          </a:solidFill>
                          <a:latin typeface="Arial" pitchFamily="34" charset="0"/>
                          <a:ea typeface="Arial" pitchFamily="34" charset="-122"/>
                          <a:cs typeface="Arial" pitchFamily="34" charset="-120"/>
                        </a:rPr>
                        <a:t>La licencia ni la ingesta de la plataforma de geolocalización de cobertura</a:t>
                      </a:r>
                      <a:endParaRPr lang="en-US" sz="110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bl>
          </a:graphicData>
        </a:graphic>
      </p:graphicFrame>
      <p:sp>
        <p:nvSpPr>
          <p:cNvPr id="13" name="Text 10"/>
          <p:cNvSpPr/>
          <p:nvPr/>
        </p:nvSpPr>
        <p:spPr>
          <a:xfrm>
            <a:off x="548640" y="5440680"/>
            <a:ext cx="11091672" cy="365760"/>
          </a:xfrm>
          <a:prstGeom prst="rect">
            <a:avLst/>
          </a:prstGeom>
          <a:noFill/>
          <a:ln/>
        </p:spPr>
        <p:txBody>
          <a:bodyPr wrap="square" lIns="0" tIns="0" rIns="0" bIns="0" rtlCol="0" anchor="ctr"/>
          <a:lstStyle/>
          <a:p>
            <a:pPr algn="l" indent="0" marL="0">
              <a:buNone/>
            </a:pPr>
            <a:r>
              <a:rPr lang="en-US" sz="1250" b="1" dirty="0">
                <a:solidFill>
                  <a:srgbClr val="1A1A1A"/>
                </a:solidFill>
                <a:latin typeface="Arial" pitchFamily="34" charset="0"/>
                <a:ea typeface="Arial" pitchFamily="34" charset="-122"/>
                <a:cs typeface="Arial" pitchFamily="34" charset="-120"/>
              </a:rPr>
              <a:t>En esta etapa el agente no escribe nada en la red.</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783080" cy="155448"/>
          </a:xfrm>
          <a:prstGeom prst="rect">
            <a:avLst/>
          </a:prstGeom>
          <a:solidFill>
            <a:srgbClr val="A8C93B"/>
          </a:solidFill>
          <a:ln w="12700">
            <a:solidFill>
              <a:srgbClr val="A8C93B"/>
            </a:solidFill>
            <a:prstDash val="solid"/>
          </a:ln>
        </p:spPr>
      </p:sp>
      <p:sp>
        <p:nvSpPr>
          <p:cNvPr id="3" name="Shape 1"/>
          <p:cNvSpPr/>
          <p:nvPr/>
        </p:nvSpPr>
        <p:spPr>
          <a:xfrm>
            <a:off x="1783080" y="0"/>
            <a:ext cx="2752344" cy="155448"/>
          </a:xfrm>
          <a:prstGeom prst="rect">
            <a:avLst/>
          </a:prstGeom>
          <a:solidFill>
            <a:srgbClr val="E77B26"/>
          </a:solidFill>
          <a:ln w="12700">
            <a:solidFill>
              <a:srgbClr val="E77B26"/>
            </a:solidFill>
            <a:prstDash val="solid"/>
          </a:ln>
        </p:spPr>
      </p:sp>
      <p:sp>
        <p:nvSpPr>
          <p:cNvPr id="4" name="Shape 2"/>
          <p:cNvSpPr/>
          <p:nvPr/>
        </p:nvSpPr>
        <p:spPr>
          <a:xfrm>
            <a:off x="4535424" y="0"/>
            <a:ext cx="2734056" cy="155448"/>
          </a:xfrm>
          <a:prstGeom prst="rect">
            <a:avLst/>
          </a:prstGeom>
          <a:solidFill>
            <a:srgbClr val="F2A81D"/>
          </a:solidFill>
          <a:ln w="12700">
            <a:solidFill>
              <a:srgbClr val="F2A81D"/>
            </a:solidFill>
            <a:prstDash val="solid"/>
          </a:ln>
        </p:spPr>
      </p:sp>
      <p:sp>
        <p:nvSpPr>
          <p:cNvPr id="5" name="Shape 3"/>
          <p:cNvSpPr/>
          <p:nvPr/>
        </p:nvSpPr>
        <p:spPr>
          <a:xfrm>
            <a:off x="7269480" y="0"/>
            <a:ext cx="2734056" cy="155448"/>
          </a:xfrm>
          <a:prstGeom prst="rect">
            <a:avLst/>
          </a:prstGeom>
          <a:solidFill>
            <a:srgbClr val="E23A26"/>
          </a:solidFill>
          <a:ln w="12700">
            <a:solidFill>
              <a:srgbClr val="E23A26"/>
            </a:solidFill>
            <a:prstDash val="solid"/>
          </a:ln>
        </p:spPr>
      </p:sp>
      <p:sp>
        <p:nvSpPr>
          <p:cNvPr id="6" name="Shape 4"/>
          <p:cNvSpPr/>
          <p:nvPr/>
        </p:nvSpPr>
        <p:spPr>
          <a:xfrm>
            <a:off x="10003536" y="0"/>
            <a:ext cx="2185416" cy="155448"/>
          </a:xfrm>
          <a:prstGeom prst="rect">
            <a:avLst/>
          </a:prstGeom>
          <a:solidFill>
            <a:srgbClr val="79C3E4"/>
          </a:solidFill>
          <a:ln w="12700">
            <a:solidFill>
              <a:srgbClr val="79C3E4"/>
            </a:solidFill>
            <a:prstDash val="solid"/>
          </a:ln>
        </p:spPr>
      </p:sp>
      <p:sp>
        <p:nvSpPr>
          <p:cNvPr id="7" name="Shape 5"/>
          <p:cNvSpPr/>
          <p:nvPr/>
        </p:nvSpPr>
        <p:spPr>
          <a:xfrm>
            <a:off x="11356848" y="6053328"/>
            <a:ext cx="512064" cy="512064"/>
          </a:xfrm>
          <a:prstGeom prst="ellipse">
            <a:avLst/>
          </a:prstGeom>
          <a:solidFill>
            <a:srgbClr val="D8261C"/>
          </a:solidFill>
          <a:ln w="12700">
            <a:solidFill>
              <a:srgbClr val="D8261C"/>
            </a:solidFill>
            <a:prstDash val="solid"/>
          </a:ln>
        </p:spPr>
      </p:sp>
      <p:sp>
        <p:nvSpPr>
          <p:cNvPr id="8" name="Text 6"/>
          <p:cNvSpPr/>
          <p:nvPr/>
        </p:nvSpPr>
        <p:spPr>
          <a:xfrm>
            <a:off x="11356848" y="6053328"/>
            <a:ext cx="512064" cy="51206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Claro</a:t>
            </a:r>
            <a:endParaRPr lang="en-US" sz="900" dirty="0"/>
          </a:p>
        </p:txBody>
      </p:sp>
      <p:sp>
        <p:nvSpPr>
          <p:cNvPr id="9" name="Text 7"/>
          <p:cNvSpPr/>
          <p:nvPr/>
        </p:nvSpPr>
        <p:spPr>
          <a:xfrm>
            <a:off x="548640" y="6263640"/>
            <a:ext cx="914400" cy="274320"/>
          </a:xfrm>
          <a:prstGeom prst="rect">
            <a:avLst/>
          </a:prstGeom>
          <a:noFill/>
          <a:ln/>
        </p:spPr>
        <p:txBody>
          <a:bodyPr wrap="square" lIns="0" tIns="0" rIns="0" bIns="0" rtlCol="0" anchor="ctr"/>
          <a:lstStyle/>
          <a:p>
            <a:pPr algn="l" indent="0" marL="0">
              <a:buNone/>
            </a:pPr>
            <a:r>
              <a:rPr lang="en-US" sz="900" dirty="0">
                <a:solidFill>
                  <a:srgbClr val="6B6B6B"/>
                </a:solidFill>
                <a:latin typeface="Arial" pitchFamily="34" charset="0"/>
                <a:ea typeface="Arial" pitchFamily="34" charset="-122"/>
                <a:cs typeface="Arial" pitchFamily="34" charset="-120"/>
              </a:rPr>
              <a:t>10</a:t>
            </a:r>
            <a:endParaRPr lang="en-US" sz="900" dirty="0"/>
          </a:p>
        </p:txBody>
      </p:sp>
      <p:sp>
        <p:nvSpPr>
          <p:cNvPr id="10" name="Text 8"/>
          <p:cNvSpPr/>
          <p:nvPr/>
        </p:nvSpPr>
        <p:spPr>
          <a:xfrm>
            <a:off x="548640" y="384048"/>
            <a:ext cx="11091672" cy="457200"/>
          </a:xfrm>
          <a:prstGeom prst="rect">
            <a:avLst/>
          </a:prstGeom>
          <a:noFill/>
          <a:ln/>
        </p:spPr>
        <p:txBody>
          <a:bodyPr wrap="square" lIns="0" tIns="0" rIns="0" bIns="0" rtlCol="0" anchor="ctr"/>
          <a:lstStyle/>
          <a:p>
            <a:pPr algn="ctr" indent="0" marL="0">
              <a:buNone/>
            </a:pPr>
            <a:r>
              <a:rPr lang="en-US" sz="2400" b="1" dirty="0">
                <a:solidFill>
                  <a:srgbClr val="1A1A1A"/>
                </a:solidFill>
                <a:latin typeface="Arial" pitchFamily="34" charset="0"/>
                <a:ea typeface="Arial" pitchFamily="34" charset="-122"/>
                <a:cs typeface="Arial" pitchFamily="34" charset="-120"/>
              </a:rPr>
              <a:t>Fases y dependencias</a:t>
            </a:r>
            <a:endParaRPr lang="en-US" sz="2400" dirty="0"/>
          </a:p>
        </p:txBody>
      </p:sp>
      <p:sp>
        <p:nvSpPr>
          <p:cNvPr id="11" name="Text 9"/>
          <p:cNvSpPr/>
          <p:nvPr/>
        </p:nvSpPr>
        <p:spPr>
          <a:xfrm>
            <a:off x="548640" y="932688"/>
            <a:ext cx="11091672" cy="384048"/>
          </a:xfrm>
          <a:prstGeom prst="rect">
            <a:avLst/>
          </a:prstGeom>
          <a:noFill/>
          <a:ln/>
        </p:spPr>
        <p:txBody>
          <a:bodyPr wrap="square" lIns="0" tIns="0" rIns="0" bIns="0" rtlCol="0" anchor="ctr"/>
          <a:lstStyle/>
          <a:p>
            <a:pPr algn="l" indent="0" marL="0">
              <a:buNone/>
            </a:pPr>
            <a:r>
              <a:rPr lang="en-US" sz="1250" dirty="0">
                <a:solidFill>
                  <a:srgbClr val="333333"/>
                </a:solidFill>
                <a:latin typeface="Arial" pitchFamily="34" charset="0"/>
                <a:ea typeface="Arial" pitchFamily="34" charset="-122"/>
                <a:cs typeface="Arial" pitchFamily="34" charset="-120"/>
              </a:rPr>
              <a:t>Las fases están ordenadas para que cada una entregue algo utilizable, aunque la siguiente se demore.</a:t>
            </a:r>
            <a:endParaRPr lang="en-US" sz="12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914400"/>
        </p:xfrm>
        <a:graphic>
          <a:graphicData uri="http://schemas.openxmlformats.org/drawingml/2006/table">
            <a:tbl>
              <a:tblPr/>
              <a:tblGrid>
                <a:gridCol w="914400"/>
                <a:gridCol w="5971032"/>
                <a:gridCol w="4206240"/>
              </a:tblGrid>
              <a:tr h="411480">
                <a:tc>
                  <a:txBody>
                    <a:bodyPr/>
                    <a:lstStyle/>
                    <a:p>
                      <a:pPr indent="0" marL="0">
                        <a:buNone/>
                      </a:pPr>
                      <a:r>
                        <a:rPr lang="en-US" sz="1100" b="1" dirty="0">
                          <a:solidFill>
                            <a:srgbClr val="1A1A1A"/>
                          </a:solidFill>
                          <a:latin typeface="Arial" pitchFamily="34" charset="0"/>
                          <a:ea typeface="Arial" pitchFamily="34" charset="-122"/>
                          <a:cs typeface="Arial" pitchFamily="34" charset="-120"/>
                        </a:rPr>
                        <a:t>Fase</a:t>
                      </a:r>
                      <a:endParaRPr lang="en-US" sz="110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EDED"/>
                    </a:solidFill>
                  </a:tcPr>
                </a:tc>
                <a:tc>
                  <a:txBody>
                    <a:bodyPr/>
                    <a:lstStyle/>
                    <a:p>
                      <a:pPr indent="0" marL="0">
                        <a:buNone/>
                      </a:pPr>
                      <a:r>
                        <a:rPr lang="en-US" sz="1100" b="1" dirty="0">
                          <a:solidFill>
                            <a:srgbClr val="1A1A1A"/>
                          </a:solidFill>
                          <a:latin typeface="Arial" pitchFamily="34" charset="0"/>
                          <a:ea typeface="Arial" pitchFamily="34" charset="-122"/>
                          <a:cs typeface="Arial" pitchFamily="34" charset="-120"/>
                        </a:rPr>
                        <a:t>Entregable</a:t>
                      </a:r>
                      <a:endParaRPr lang="en-US" sz="110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EDED"/>
                    </a:solidFill>
                  </a:tcPr>
                </a:tc>
                <a:tc>
                  <a:txBody>
                    <a:bodyPr/>
                    <a:lstStyle/>
                    <a:p>
                      <a:pPr indent="0" marL="0">
                        <a:buNone/>
                      </a:pPr>
                      <a:r>
                        <a:rPr lang="en-US" sz="1100" b="1" dirty="0">
                          <a:solidFill>
                            <a:srgbClr val="1A1A1A"/>
                          </a:solidFill>
                          <a:latin typeface="Arial" pitchFamily="34" charset="0"/>
                          <a:ea typeface="Arial" pitchFamily="34" charset="-122"/>
                          <a:cs typeface="Arial" pitchFamily="34" charset="-120"/>
                        </a:rPr>
                        <a:t>De qué depende</a:t>
                      </a:r>
                      <a:endParaRPr lang="en-US" sz="110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EDED"/>
                    </a:solidFill>
                  </a:tcPr>
                </a:tc>
              </a:tr>
              <a:tr h="621792">
                <a:tc>
                  <a:txBody>
                    <a:bodyPr/>
                    <a:lstStyle/>
                    <a:p>
                      <a:pPr indent="0" marL="0">
                        <a:buNone/>
                      </a:pPr>
                      <a:r>
                        <a:rPr lang="en-US" sz="1100" b="1" dirty="0">
                          <a:solidFill>
                            <a:srgbClr val="333333"/>
                          </a:solidFill>
                          <a:latin typeface="Arial" pitchFamily="34" charset="0"/>
                          <a:ea typeface="Arial" pitchFamily="34" charset="-122"/>
                          <a:cs typeface="Arial" pitchFamily="34" charset="-120"/>
                        </a:rPr>
                        <a:t>A</a:t>
                      </a:r>
                      <a:endParaRPr lang="en-US" sz="110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7F7"/>
                    </a:solidFill>
                  </a:tcPr>
                </a:tc>
                <a:tc>
                  <a:txBody>
                    <a:bodyPr/>
                    <a:lstStyle/>
                    <a:p>
                      <a:pPr indent="0" marL="0">
                        <a:buNone/>
                      </a:pPr>
                      <a:r>
                        <a:rPr lang="en-US" sz="1100" dirty="0">
                          <a:solidFill>
                            <a:srgbClr val="333333"/>
                          </a:solidFill>
                          <a:latin typeface="Arial" pitchFamily="34" charset="0"/>
                          <a:ea typeface="Arial" pitchFamily="34" charset="-122"/>
                          <a:cs typeface="Arial" pitchFamily="34" charset="-120"/>
                        </a:rPr>
                        <a:t>Diagnóstico de drops con cruce de señales y módulo de PCI simulado</a:t>
                      </a:r>
                      <a:endParaRPr lang="en-US" sz="110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7F7"/>
                    </a:solidFill>
                  </a:tcPr>
                </a:tc>
                <a:tc>
                  <a:txBody>
                    <a:bodyPr/>
                    <a:lstStyle/>
                    <a:p>
                      <a:pPr indent="0" marL="0">
                        <a:buNone/>
                      </a:pPr>
                      <a:r>
                        <a:rPr lang="en-US" sz="1100" dirty="0">
                          <a:solidFill>
                            <a:srgbClr val="333333"/>
                          </a:solidFill>
                          <a:latin typeface="Arial" pitchFamily="34" charset="0"/>
                          <a:ea typeface="Arial" pitchFamily="34" charset="-122"/>
                          <a:cs typeface="Arial" pitchFamily="34" charset="-120"/>
                        </a:rPr>
                        <a:t>Ya está corriendo</a:t>
                      </a:r>
                      <a:endParaRPr lang="en-US" sz="110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7F7"/>
                    </a:solidFill>
                  </a:tcPr>
                </a:tc>
              </a:tr>
              <a:tr h="621792">
                <a:tc>
                  <a:txBody>
                    <a:bodyPr/>
                    <a:lstStyle/>
                    <a:p>
                      <a:pPr indent="0" marL="0">
                        <a:buNone/>
                      </a:pPr>
                      <a:r>
                        <a:rPr lang="en-US" sz="1100" b="1" dirty="0">
                          <a:solidFill>
                            <a:srgbClr val="333333"/>
                          </a:solidFill>
                          <a:latin typeface="Arial" pitchFamily="34" charset="0"/>
                          <a:ea typeface="Arial" pitchFamily="34" charset="-122"/>
                          <a:cs typeface="Arial" pitchFamily="34" charset="-120"/>
                        </a:rPr>
                        <a:t>B</a:t>
                      </a:r>
                      <a:endParaRPr lang="en-US" sz="110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00" dirty="0">
                          <a:solidFill>
                            <a:srgbClr val="333333"/>
                          </a:solidFill>
                          <a:latin typeface="Arial" pitchFamily="34" charset="0"/>
                          <a:ea typeface="Arial" pitchFamily="34" charset="-122"/>
                          <a:cs typeface="Arial" pitchFamily="34" charset="-120"/>
                        </a:rPr>
                        <a:t>Módulo de cobertura con datos de prueba y sus reglas de cruce</a:t>
                      </a:r>
                      <a:endParaRPr lang="en-US" sz="110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00" dirty="0">
                          <a:solidFill>
                            <a:srgbClr val="333333"/>
                          </a:solidFill>
                          <a:latin typeface="Arial" pitchFamily="34" charset="0"/>
                          <a:ea typeface="Arial" pitchFamily="34" charset="-122"/>
                          <a:cs typeface="Arial" pitchFamily="34" charset="-120"/>
                        </a:rPr>
                        <a:t>Nada externo</a:t>
                      </a:r>
                      <a:endParaRPr lang="en-US" sz="110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621792">
                <a:tc>
                  <a:txBody>
                    <a:bodyPr/>
                    <a:lstStyle/>
                    <a:p>
                      <a:pPr indent="0" marL="0">
                        <a:buNone/>
                      </a:pPr>
                      <a:r>
                        <a:rPr lang="en-US" sz="1100" b="1" dirty="0">
                          <a:solidFill>
                            <a:srgbClr val="333333"/>
                          </a:solidFill>
                          <a:latin typeface="Arial" pitchFamily="34" charset="0"/>
                          <a:ea typeface="Arial" pitchFamily="34" charset="-122"/>
                          <a:cs typeface="Arial" pitchFamily="34" charset="-120"/>
                        </a:rPr>
                        <a:t>C</a:t>
                      </a:r>
                      <a:endParaRPr lang="en-US" sz="110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7F7"/>
                    </a:solidFill>
                  </a:tcPr>
                </a:tc>
                <a:tc>
                  <a:txBody>
                    <a:bodyPr/>
                    <a:lstStyle/>
                    <a:p>
                      <a:pPr indent="0" marL="0">
                        <a:buNone/>
                      </a:pPr>
                      <a:r>
                        <a:rPr lang="en-US" sz="1100" dirty="0">
                          <a:solidFill>
                            <a:srgbClr val="333333"/>
                          </a:solidFill>
                          <a:latin typeface="Arial" pitchFamily="34" charset="0"/>
                          <a:ea typeface="Arial" pitchFamily="34" charset="-122"/>
                          <a:cs typeface="Arial" pitchFamily="34" charset="-120"/>
                        </a:rPr>
                        <a:t>Conexión con la herramienta de PCI/RSI en modo consulta y simulación</a:t>
                      </a:r>
                      <a:endParaRPr lang="en-US" sz="110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7F7"/>
                    </a:solidFill>
                  </a:tcPr>
                </a:tc>
                <a:tc>
                  <a:txBody>
                    <a:bodyPr/>
                    <a:lstStyle/>
                    <a:p>
                      <a:pPr indent="0" marL="0">
                        <a:buNone/>
                      </a:pPr>
                      <a:r>
                        <a:rPr lang="en-US" sz="1100" dirty="0">
                          <a:solidFill>
                            <a:srgbClr val="333333"/>
                          </a:solidFill>
                          <a:latin typeface="Arial" pitchFamily="34" charset="0"/>
                          <a:ea typeface="Arial" pitchFamily="34" charset="-122"/>
                          <a:cs typeface="Arial" pitchFamily="34" charset="-120"/>
                        </a:rPr>
                        <a:t>Acceso a la herramienta y un punto de integración de su lado</a:t>
                      </a:r>
                      <a:endParaRPr lang="en-US" sz="110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7F7"/>
                    </a:solidFill>
                  </a:tcPr>
                </a:tc>
              </a:tr>
              <a:tr h="621792">
                <a:tc>
                  <a:txBody>
                    <a:bodyPr/>
                    <a:lstStyle/>
                    <a:p>
                      <a:pPr indent="0" marL="0">
                        <a:buNone/>
                      </a:pPr>
                      <a:r>
                        <a:rPr lang="en-US" sz="1100" b="1" dirty="0">
                          <a:solidFill>
                            <a:srgbClr val="333333"/>
                          </a:solidFill>
                          <a:latin typeface="Arial" pitchFamily="34" charset="0"/>
                          <a:ea typeface="Arial" pitchFamily="34" charset="-122"/>
                          <a:cs typeface="Arial" pitchFamily="34" charset="-120"/>
                        </a:rPr>
                        <a:t>D</a:t>
                      </a:r>
                      <a:endParaRPr lang="en-US" sz="110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00" dirty="0">
                          <a:solidFill>
                            <a:srgbClr val="333333"/>
                          </a:solidFill>
                          <a:latin typeface="Arial" pitchFamily="34" charset="0"/>
                          <a:ea typeface="Arial" pitchFamily="34" charset="-122"/>
                          <a:cs typeface="Arial" pitchFamily="34" charset="-120"/>
                        </a:rPr>
                        <a:t>Cobertura con datos reales de geolocalización</a:t>
                      </a:r>
                      <a:endParaRPr lang="en-US" sz="110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00" dirty="0">
                          <a:solidFill>
                            <a:srgbClr val="333333"/>
                          </a:solidFill>
                          <a:latin typeface="Arial" pitchFamily="34" charset="0"/>
                          <a:ea typeface="Arial" pitchFamily="34" charset="-122"/>
                          <a:cs typeface="Arial" pitchFamily="34" charset="-120"/>
                        </a:rPr>
                        <a:t>Definición sobre la fuente de datos y su licencia</a:t>
                      </a:r>
                      <a:endParaRPr lang="en-US" sz="110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621792">
                <a:tc>
                  <a:txBody>
                    <a:bodyPr/>
                    <a:lstStyle/>
                    <a:p>
                      <a:pPr indent="0" marL="0">
                        <a:buNone/>
                      </a:pPr>
                      <a:r>
                        <a:rPr lang="en-US" sz="1100" b="1" dirty="0">
                          <a:solidFill>
                            <a:srgbClr val="333333"/>
                          </a:solidFill>
                          <a:latin typeface="Arial" pitchFamily="34" charset="0"/>
                          <a:ea typeface="Arial" pitchFamily="34" charset="-122"/>
                          <a:cs typeface="Arial" pitchFamily="34" charset="-120"/>
                        </a:rPr>
                        <a:t>E</a:t>
                      </a:r>
                      <a:endParaRPr lang="en-US" sz="110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7F7"/>
                    </a:solidFill>
                  </a:tcPr>
                </a:tc>
                <a:tc>
                  <a:txBody>
                    <a:bodyPr/>
                    <a:lstStyle/>
                    <a:p>
                      <a:pPr indent="0" marL="0">
                        <a:buNone/>
                      </a:pPr>
                      <a:r>
                        <a:rPr lang="en-US" sz="1100" dirty="0">
                          <a:solidFill>
                            <a:srgbClr val="333333"/>
                          </a:solidFill>
                          <a:latin typeface="Arial" pitchFamily="34" charset="0"/>
                          <a:ea typeface="Arial" pitchFamily="34" charset="-122"/>
                          <a:cs typeface="Arial" pitchFamily="34" charset="-120"/>
                        </a:rPr>
                        <a:t>Corrección de PCI con aprobación y re-medición a 24-48 h</a:t>
                      </a:r>
                      <a:endParaRPr lang="en-US" sz="110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7F7"/>
                    </a:solidFill>
                  </a:tcPr>
                </a:tc>
                <a:tc>
                  <a:txBody>
                    <a:bodyPr/>
                    <a:lstStyle/>
                    <a:p>
                      <a:pPr indent="0" marL="0">
                        <a:buNone/>
                      </a:pPr>
                      <a:r>
                        <a:rPr lang="en-US" sz="1100" dirty="0">
                          <a:solidFill>
                            <a:srgbClr val="333333"/>
                          </a:solidFill>
                          <a:latin typeface="Arial" pitchFamily="34" charset="0"/>
                          <a:ea typeface="Arial" pitchFamily="34" charset="-122"/>
                          <a:cs typeface="Arial" pitchFamily="34" charset="-120"/>
                        </a:rPr>
                        <a:t>Fase C en producción y proceso de cambio acordado</a:t>
                      </a:r>
                      <a:endParaRPr lang="en-US" sz="110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7F7"/>
                    </a:solidFill>
                  </a:tcPr>
                </a:tc>
              </a:tr>
            </a:tbl>
          </a:graphicData>
        </a:graphic>
      </p:graphicFrame>
      <p:sp>
        <p:nvSpPr>
          <p:cNvPr id="13" name="Text 10"/>
          <p:cNvSpPr/>
          <p:nvPr/>
        </p:nvSpPr>
        <p:spPr>
          <a:xfrm>
            <a:off x="548640" y="5440680"/>
            <a:ext cx="11091672" cy="365760"/>
          </a:xfrm>
          <a:prstGeom prst="rect">
            <a:avLst/>
          </a:prstGeom>
          <a:noFill/>
          <a:ln/>
        </p:spPr>
        <p:txBody>
          <a:bodyPr wrap="square" lIns="0" tIns="0" rIns="0" bIns="0" rtlCol="0" anchor="ctr"/>
          <a:lstStyle/>
          <a:p>
            <a:pPr algn="l" indent="0" marL="0">
              <a:buNone/>
            </a:pPr>
            <a:r>
              <a:rPr lang="en-US" sz="1100" dirty="0">
                <a:solidFill>
                  <a:srgbClr val="6B6B6B"/>
                </a:solidFill>
                <a:latin typeface="Arial" pitchFamily="34" charset="0"/>
                <a:ea typeface="Arial" pitchFamily="34" charset="-122"/>
                <a:cs typeface="Arial" pitchFamily="34" charset="-120"/>
              </a:rPr>
              <a:t>Si la fuente de cobertura no se define, las fases B, C y E igual entregan valor: el cruce entre drops y PCI ya cubre los casos de identidad de celda.</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783080" cy="155448"/>
          </a:xfrm>
          <a:prstGeom prst="rect">
            <a:avLst/>
          </a:prstGeom>
          <a:solidFill>
            <a:srgbClr val="A8C93B"/>
          </a:solidFill>
          <a:ln w="12700">
            <a:solidFill>
              <a:srgbClr val="A8C93B"/>
            </a:solidFill>
            <a:prstDash val="solid"/>
          </a:ln>
        </p:spPr>
      </p:sp>
      <p:sp>
        <p:nvSpPr>
          <p:cNvPr id="3" name="Shape 1"/>
          <p:cNvSpPr/>
          <p:nvPr/>
        </p:nvSpPr>
        <p:spPr>
          <a:xfrm>
            <a:off x="1783080" y="0"/>
            <a:ext cx="2752344" cy="155448"/>
          </a:xfrm>
          <a:prstGeom prst="rect">
            <a:avLst/>
          </a:prstGeom>
          <a:solidFill>
            <a:srgbClr val="E77B26"/>
          </a:solidFill>
          <a:ln w="12700">
            <a:solidFill>
              <a:srgbClr val="E77B26"/>
            </a:solidFill>
            <a:prstDash val="solid"/>
          </a:ln>
        </p:spPr>
      </p:sp>
      <p:sp>
        <p:nvSpPr>
          <p:cNvPr id="4" name="Shape 2"/>
          <p:cNvSpPr/>
          <p:nvPr/>
        </p:nvSpPr>
        <p:spPr>
          <a:xfrm>
            <a:off x="4535424" y="0"/>
            <a:ext cx="2734056" cy="155448"/>
          </a:xfrm>
          <a:prstGeom prst="rect">
            <a:avLst/>
          </a:prstGeom>
          <a:solidFill>
            <a:srgbClr val="F2A81D"/>
          </a:solidFill>
          <a:ln w="12700">
            <a:solidFill>
              <a:srgbClr val="F2A81D"/>
            </a:solidFill>
            <a:prstDash val="solid"/>
          </a:ln>
        </p:spPr>
      </p:sp>
      <p:sp>
        <p:nvSpPr>
          <p:cNvPr id="5" name="Shape 3"/>
          <p:cNvSpPr/>
          <p:nvPr/>
        </p:nvSpPr>
        <p:spPr>
          <a:xfrm>
            <a:off x="7269480" y="0"/>
            <a:ext cx="2734056" cy="155448"/>
          </a:xfrm>
          <a:prstGeom prst="rect">
            <a:avLst/>
          </a:prstGeom>
          <a:solidFill>
            <a:srgbClr val="E23A26"/>
          </a:solidFill>
          <a:ln w="12700">
            <a:solidFill>
              <a:srgbClr val="E23A26"/>
            </a:solidFill>
            <a:prstDash val="solid"/>
          </a:ln>
        </p:spPr>
      </p:sp>
      <p:sp>
        <p:nvSpPr>
          <p:cNvPr id="6" name="Shape 4"/>
          <p:cNvSpPr/>
          <p:nvPr/>
        </p:nvSpPr>
        <p:spPr>
          <a:xfrm>
            <a:off x="10003536" y="0"/>
            <a:ext cx="2185416" cy="155448"/>
          </a:xfrm>
          <a:prstGeom prst="rect">
            <a:avLst/>
          </a:prstGeom>
          <a:solidFill>
            <a:srgbClr val="79C3E4"/>
          </a:solidFill>
          <a:ln w="12700">
            <a:solidFill>
              <a:srgbClr val="79C3E4"/>
            </a:solidFill>
            <a:prstDash val="solid"/>
          </a:ln>
        </p:spPr>
      </p:sp>
      <p:sp>
        <p:nvSpPr>
          <p:cNvPr id="7" name="Shape 5"/>
          <p:cNvSpPr/>
          <p:nvPr/>
        </p:nvSpPr>
        <p:spPr>
          <a:xfrm>
            <a:off x="11356848" y="6053328"/>
            <a:ext cx="512064" cy="512064"/>
          </a:xfrm>
          <a:prstGeom prst="ellipse">
            <a:avLst/>
          </a:prstGeom>
          <a:solidFill>
            <a:srgbClr val="D8261C"/>
          </a:solidFill>
          <a:ln w="12700">
            <a:solidFill>
              <a:srgbClr val="D8261C"/>
            </a:solidFill>
            <a:prstDash val="solid"/>
          </a:ln>
        </p:spPr>
      </p:sp>
      <p:sp>
        <p:nvSpPr>
          <p:cNvPr id="8" name="Text 6"/>
          <p:cNvSpPr/>
          <p:nvPr/>
        </p:nvSpPr>
        <p:spPr>
          <a:xfrm>
            <a:off x="11356848" y="6053328"/>
            <a:ext cx="512064" cy="51206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Claro</a:t>
            </a:r>
            <a:endParaRPr lang="en-US" sz="900" dirty="0"/>
          </a:p>
        </p:txBody>
      </p:sp>
      <p:sp>
        <p:nvSpPr>
          <p:cNvPr id="9" name="Text 7"/>
          <p:cNvSpPr/>
          <p:nvPr/>
        </p:nvSpPr>
        <p:spPr>
          <a:xfrm>
            <a:off x="548640" y="6263640"/>
            <a:ext cx="914400" cy="274320"/>
          </a:xfrm>
          <a:prstGeom prst="rect">
            <a:avLst/>
          </a:prstGeom>
          <a:noFill/>
          <a:ln/>
        </p:spPr>
        <p:txBody>
          <a:bodyPr wrap="square" lIns="0" tIns="0" rIns="0" bIns="0" rtlCol="0" anchor="ctr"/>
          <a:lstStyle/>
          <a:p>
            <a:pPr algn="l" indent="0" marL="0">
              <a:buNone/>
            </a:pPr>
            <a:r>
              <a:rPr lang="en-US" sz="900" dirty="0">
                <a:solidFill>
                  <a:srgbClr val="6B6B6B"/>
                </a:solidFill>
                <a:latin typeface="Arial" pitchFamily="34" charset="0"/>
                <a:ea typeface="Arial" pitchFamily="34" charset="-122"/>
                <a:cs typeface="Arial" pitchFamily="34" charset="-120"/>
              </a:rPr>
              <a:t>11</a:t>
            </a:r>
            <a:endParaRPr lang="en-US" sz="900" dirty="0"/>
          </a:p>
        </p:txBody>
      </p:sp>
      <p:sp>
        <p:nvSpPr>
          <p:cNvPr id="10" name="Text 8"/>
          <p:cNvSpPr/>
          <p:nvPr/>
        </p:nvSpPr>
        <p:spPr>
          <a:xfrm>
            <a:off x="548640" y="384048"/>
            <a:ext cx="11091672" cy="457200"/>
          </a:xfrm>
          <a:prstGeom prst="rect">
            <a:avLst/>
          </a:prstGeom>
          <a:noFill/>
          <a:ln/>
        </p:spPr>
        <p:txBody>
          <a:bodyPr wrap="square" lIns="0" tIns="0" rIns="0" bIns="0" rtlCol="0" anchor="ctr"/>
          <a:lstStyle/>
          <a:p>
            <a:pPr algn="ctr" indent="0" marL="0">
              <a:buNone/>
            </a:pPr>
            <a:r>
              <a:rPr lang="en-US" sz="2400" b="1" dirty="0">
                <a:solidFill>
                  <a:srgbClr val="1A1A1A"/>
                </a:solidFill>
                <a:latin typeface="Arial" pitchFamily="34" charset="0"/>
                <a:ea typeface="Arial" pitchFamily="34" charset="-122"/>
                <a:cs typeface="Arial" pitchFamily="34" charset="-120"/>
              </a:rPr>
              <a:t>Riesgos y cómo se manejan</a:t>
            </a:r>
            <a:endParaRPr lang="en-US" sz="2400" dirty="0"/>
          </a:p>
        </p:txBody>
      </p:sp>
      <p:sp>
        <p:nvSpPr>
          <p:cNvPr id="11" name="Text 9"/>
          <p:cNvSpPr/>
          <p:nvPr/>
        </p:nvSpPr>
        <p:spPr>
          <a:xfrm>
            <a:off x="548640" y="932688"/>
            <a:ext cx="11091672" cy="384048"/>
          </a:xfrm>
          <a:prstGeom prst="rect">
            <a:avLst/>
          </a:prstGeom>
          <a:noFill/>
          <a:ln/>
        </p:spPr>
        <p:txBody>
          <a:bodyPr wrap="square" lIns="0" tIns="0" rIns="0" bIns="0" rtlCol="0" anchor="ctr"/>
          <a:lstStyle/>
          <a:p>
            <a:pPr algn="l" indent="0" marL="0">
              <a:buNone/>
            </a:pPr>
            <a:r>
              <a:rPr lang="en-US" sz="1250" dirty="0">
                <a:solidFill>
                  <a:srgbClr val="333333"/>
                </a:solidFill>
                <a:latin typeface="Arial" pitchFamily="34" charset="0"/>
                <a:ea typeface="Arial" pitchFamily="34" charset="-122"/>
                <a:cs typeface="Arial" pitchFamily="34" charset="-120"/>
              </a:rPr>
              <a:t>Los riesgos que veo, con la contención que ya está prevista en el diseño.</a:t>
            </a:r>
            <a:endParaRPr lang="en-US" sz="12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914400"/>
        </p:xfrm>
        <a:graphic>
          <a:graphicData uri="http://schemas.openxmlformats.org/drawingml/2006/table">
            <a:tbl>
              <a:tblPr/>
              <a:tblGrid>
                <a:gridCol w="3776472"/>
                <a:gridCol w="7315200"/>
              </a:tblGrid>
              <a:tr h="411480">
                <a:tc>
                  <a:txBody>
                    <a:bodyPr/>
                    <a:lstStyle/>
                    <a:p>
                      <a:pPr indent="0" marL="0">
                        <a:buNone/>
                      </a:pPr>
                      <a:r>
                        <a:rPr lang="en-US" sz="1100" b="1" dirty="0">
                          <a:solidFill>
                            <a:srgbClr val="1A1A1A"/>
                          </a:solidFill>
                          <a:latin typeface="Arial" pitchFamily="34" charset="0"/>
                          <a:ea typeface="Arial" pitchFamily="34" charset="-122"/>
                          <a:cs typeface="Arial" pitchFamily="34" charset="-120"/>
                        </a:rPr>
                        <a:t>Riesgo</a:t>
                      </a:r>
                      <a:endParaRPr lang="en-US" sz="110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EDED"/>
                    </a:solidFill>
                  </a:tcPr>
                </a:tc>
                <a:tc>
                  <a:txBody>
                    <a:bodyPr/>
                    <a:lstStyle/>
                    <a:p>
                      <a:pPr indent="0" marL="0">
                        <a:buNone/>
                      </a:pPr>
                      <a:r>
                        <a:rPr lang="en-US" sz="1100" b="1" dirty="0">
                          <a:solidFill>
                            <a:srgbClr val="1A1A1A"/>
                          </a:solidFill>
                          <a:latin typeface="Arial" pitchFamily="34" charset="0"/>
                          <a:ea typeface="Arial" pitchFamily="34" charset="-122"/>
                          <a:cs typeface="Arial" pitchFamily="34" charset="-120"/>
                        </a:rPr>
                        <a:t>Cómo se maneja</a:t>
                      </a:r>
                      <a:endParaRPr lang="en-US" sz="110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EDED"/>
                    </a:solidFill>
                  </a:tcPr>
                </a:tc>
              </a:tr>
              <a:tr h="603504">
                <a:tc>
                  <a:txBody>
                    <a:bodyPr/>
                    <a:lstStyle/>
                    <a:p>
                      <a:pPr indent="0" marL="0">
                        <a:buNone/>
                      </a:pPr>
                      <a:r>
                        <a:rPr lang="en-US" sz="1100" dirty="0">
                          <a:solidFill>
                            <a:srgbClr val="333333"/>
                          </a:solidFill>
                          <a:latin typeface="Arial" pitchFamily="34" charset="0"/>
                          <a:ea typeface="Arial" pitchFamily="34" charset="-122"/>
                          <a:cs typeface="Arial" pitchFamily="34" charset="-120"/>
                        </a:rPr>
                        <a:t>Que el modelo invente una conclusión</a:t>
                      </a:r>
                      <a:endParaRPr lang="en-US" sz="110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7F7"/>
                    </a:solidFill>
                  </a:tcPr>
                </a:tc>
                <a:tc>
                  <a:txBody>
                    <a:bodyPr/>
                    <a:lstStyle/>
                    <a:p>
                      <a:pPr indent="0" marL="0">
                        <a:buNone/>
                      </a:pPr>
                      <a:r>
                        <a:rPr lang="en-US" sz="1100" dirty="0">
                          <a:solidFill>
                            <a:srgbClr val="333333"/>
                          </a:solidFill>
                          <a:latin typeface="Arial" pitchFamily="34" charset="0"/>
                          <a:ea typeface="Arial" pitchFamily="34" charset="-122"/>
                          <a:cs typeface="Arial" pitchFamily="34" charset="-120"/>
                        </a:rPr>
                        <a:t>La causa la fija una regla escrita. El modelo interpreta la pregunta y redacta la respuesta; no decide el diagnóstico</a:t>
                      </a:r>
                      <a:endParaRPr lang="en-US" sz="110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7F7"/>
                    </a:solidFill>
                  </a:tcPr>
                </a:tc>
              </a:tr>
              <a:tr h="603504">
                <a:tc>
                  <a:txBody>
                    <a:bodyPr/>
                    <a:lstStyle/>
                    <a:p>
                      <a:pPr indent="0" marL="0">
                        <a:buNone/>
                      </a:pPr>
                      <a:r>
                        <a:rPr lang="en-US" sz="1100" dirty="0">
                          <a:solidFill>
                            <a:srgbClr val="333333"/>
                          </a:solidFill>
                          <a:latin typeface="Arial" pitchFamily="34" charset="0"/>
                          <a:ea typeface="Arial" pitchFamily="34" charset="-122"/>
                          <a:cs typeface="Arial" pitchFamily="34" charset="-120"/>
                        </a:rPr>
                        <a:t>Alarmas de más y desgaste del equipo</a:t>
                      </a:r>
                      <a:endParaRPr lang="en-US" sz="110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00" dirty="0">
                          <a:solidFill>
                            <a:srgbClr val="333333"/>
                          </a:solidFill>
                          <a:latin typeface="Arial" pitchFamily="34" charset="0"/>
                          <a:ea typeface="Arial" pitchFamily="34" charset="-122"/>
                          <a:cs typeface="Arial" pitchFamily="34" charset="-120"/>
                        </a:rPr>
                        <a:t>Sin evidencia cruzada la confianza es baja y no se propone acción. Se prioriza precisión antes que volumen</a:t>
                      </a:r>
                      <a:endParaRPr lang="en-US" sz="110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603504">
                <a:tc>
                  <a:txBody>
                    <a:bodyPr/>
                    <a:lstStyle/>
                    <a:p>
                      <a:pPr indent="0" marL="0">
                        <a:buNone/>
                      </a:pPr>
                      <a:r>
                        <a:rPr lang="en-US" sz="1100" dirty="0">
                          <a:solidFill>
                            <a:srgbClr val="333333"/>
                          </a:solidFill>
                          <a:latin typeface="Arial" pitchFamily="34" charset="0"/>
                          <a:ea typeface="Arial" pitchFamily="34" charset="-122"/>
                          <a:cs typeface="Arial" pitchFamily="34" charset="-120"/>
                        </a:rPr>
                        <a:t>Que el agente toque la red</a:t>
                      </a:r>
                      <a:endParaRPr lang="en-US" sz="110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7F7"/>
                    </a:solidFill>
                  </a:tcPr>
                </a:tc>
                <a:tc>
                  <a:txBody>
                    <a:bodyPr/>
                    <a:lstStyle/>
                    <a:p>
                      <a:pPr indent="0" marL="0">
                        <a:buNone/>
                      </a:pPr>
                      <a:r>
                        <a:rPr lang="en-US" sz="1100" dirty="0">
                          <a:solidFill>
                            <a:srgbClr val="333333"/>
                          </a:solidFill>
                          <a:latin typeface="Arial" pitchFamily="34" charset="0"/>
                          <a:ea typeface="Arial" pitchFamily="34" charset="-122"/>
                          <a:cs typeface="Arial" pitchFamily="34" charset="-120"/>
                        </a:rPr>
                        <a:t>La única escritura posible es PCI: se simula primero, queda auditoría por celda y la aplicación la hace una persona</a:t>
                      </a:r>
                      <a:endParaRPr lang="en-US" sz="110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7F7"/>
                    </a:solidFill>
                  </a:tcPr>
                </a:tc>
              </a:tr>
              <a:tr h="603504">
                <a:tc>
                  <a:txBody>
                    <a:bodyPr/>
                    <a:lstStyle/>
                    <a:p>
                      <a:pPr indent="0" marL="0">
                        <a:buNone/>
                      </a:pPr>
                      <a:r>
                        <a:rPr lang="en-US" sz="1100" dirty="0">
                          <a:solidFill>
                            <a:srgbClr val="333333"/>
                          </a:solidFill>
                          <a:latin typeface="Arial" pitchFamily="34" charset="0"/>
                          <a:ea typeface="Arial" pitchFamily="34" charset="-122"/>
                          <a:cs typeface="Arial" pitchFamily="34" charset="-120"/>
                        </a:rPr>
                        <a:t>Depender de una plataforma que hoy no tenemos</a:t>
                      </a:r>
                      <a:endParaRPr lang="en-US" sz="110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00" dirty="0">
                          <a:solidFill>
                            <a:srgbClr val="333333"/>
                          </a:solidFill>
                          <a:latin typeface="Arial" pitchFamily="34" charset="0"/>
                          <a:ea typeface="Arial" pitchFamily="34" charset="-122"/>
                          <a:cs typeface="Arial" pitchFamily="34" charset="-120"/>
                        </a:rPr>
                        <a:t>El módulo de cobertura arranca con datos de prueba. Si la fuente no llega, el resto sigue funcionando</a:t>
                      </a:r>
                      <a:endParaRPr lang="en-US" sz="110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603504">
                <a:tc>
                  <a:txBody>
                    <a:bodyPr/>
                    <a:lstStyle/>
                    <a:p>
                      <a:pPr indent="0" marL="0">
                        <a:buNone/>
                      </a:pPr>
                      <a:r>
                        <a:rPr lang="en-US" sz="1100" dirty="0">
                          <a:solidFill>
                            <a:srgbClr val="333333"/>
                          </a:solidFill>
                          <a:latin typeface="Arial" pitchFamily="34" charset="0"/>
                          <a:ea typeface="Arial" pitchFamily="34" charset="-122"/>
                          <a:cs typeface="Arial" pitchFamily="34" charset="-120"/>
                        </a:rPr>
                        <a:t>Convivencia con la herramienta de PCI actual</a:t>
                      </a:r>
                      <a:endParaRPr lang="en-US" sz="110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7F7"/>
                    </a:solidFill>
                  </a:tcPr>
                </a:tc>
                <a:tc>
                  <a:txBody>
                    <a:bodyPr/>
                    <a:lstStyle/>
                    <a:p>
                      <a:pPr indent="0" marL="0">
                        <a:buNone/>
                      </a:pPr>
                      <a:r>
                        <a:rPr lang="en-US" sz="1100" dirty="0">
                          <a:solidFill>
                            <a:srgbClr val="333333"/>
                          </a:solidFill>
                          <a:latin typeface="Arial" pitchFamily="34" charset="0"/>
                          <a:ea typeface="Arial" pitchFamily="34" charset="-122"/>
                          <a:cs typeface="Arial" pitchFamily="34" charset="-120"/>
                        </a:rPr>
                        <a:t>Se integra por interfaz. Las dos aplicaciones siguen separadas y la que ya funciona no se modifica</a:t>
                      </a:r>
                      <a:endParaRPr lang="en-US" sz="110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7F7"/>
                    </a:solidFill>
                  </a:tcPr>
                </a:tc>
              </a:tr>
              <a:tr h="603504">
                <a:tc>
                  <a:txBody>
                    <a:bodyPr/>
                    <a:lstStyle/>
                    <a:p>
                      <a:pPr indent="0" marL="0">
                        <a:buNone/>
                      </a:pPr>
                      <a:r>
                        <a:rPr lang="en-US" sz="1100" dirty="0">
                          <a:solidFill>
                            <a:srgbClr val="333333"/>
                          </a:solidFill>
                          <a:latin typeface="Arial" pitchFamily="34" charset="0"/>
                          <a:ea typeface="Arial" pitchFamily="34" charset="-122"/>
                          <a:cs typeface="Arial" pitchFamily="34" charset="-120"/>
                        </a:rPr>
                        <a:t>Umbrales mal calibrados al principio</a:t>
                      </a:r>
                      <a:endParaRPr lang="en-US" sz="110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00" dirty="0">
                          <a:solidFill>
                            <a:srgbClr val="333333"/>
                          </a:solidFill>
                          <a:latin typeface="Arial" pitchFamily="34" charset="0"/>
                          <a:ea typeface="Arial" pitchFamily="34" charset="-122"/>
                          <a:cs typeface="Arial" pitchFamily="34" charset="-120"/>
                        </a:rPr>
                        <a:t>Se ajustan contra casos reales ya resueltos por el área, con el resultado a la vista</a:t>
                      </a:r>
                      <a:endParaRPr lang="en-US" sz="1100" dirty="0">
                        <a:latin typeface="Arial" charset="0"/>
                        <a:ea typeface="Arial" charset="0"/>
                        <a:cs typeface="Arial" charset="0"/>
                      </a:endParaRPr>
                    </a:p>
                  </a:txBody>
                  <a:tcPr marL="76200" marR="76200" marT="50800" marB="508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783080" cy="155448"/>
          </a:xfrm>
          <a:prstGeom prst="rect">
            <a:avLst/>
          </a:prstGeom>
          <a:solidFill>
            <a:srgbClr val="A8C93B"/>
          </a:solidFill>
          <a:ln w="12700">
            <a:solidFill>
              <a:srgbClr val="A8C93B"/>
            </a:solidFill>
            <a:prstDash val="solid"/>
          </a:ln>
        </p:spPr>
      </p:sp>
      <p:sp>
        <p:nvSpPr>
          <p:cNvPr id="3" name="Shape 1"/>
          <p:cNvSpPr/>
          <p:nvPr/>
        </p:nvSpPr>
        <p:spPr>
          <a:xfrm>
            <a:off x="1783080" y="0"/>
            <a:ext cx="2752344" cy="155448"/>
          </a:xfrm>
          <a:prstGeom prst="rect">
            <a:avLst/>
          </a:prstGeom>
          <a:solidFill>
            <a:srgbClr val="E77B26"/>
          </a:solidFill>
          <a:ln w="12700">
            <a:solidFill>
              <a:srgbClr val="E77B26"/>
            </a:solidFill>
            <a:prstDash val="solid"/>
          </a:ln>
        </p:spPr>
      </p:sp>
      <p:sp>
        <p:nvSpPr>
          <p:cNvPr id="4" name="Shape 2"/>
          <p:cNvSpPr/>
          <p:nvPr/>
        </p:nvSpPr>
        <p:spPr>
          <a:xfrm>
            <a:off x="4535424" y="0"/>
            <a:ext cx="2734056" cy="155448"/>
          </a:xfrm>
          <a:prstGeom prst="rect">
            <a:avLst/>
          </a:prstGeom>
          <a:solidFill>
            <a:srgbClr val="F2A81D"/>
          </a:solidFill>
          <a:ln w="12700">
            <a:solidFill>
              <a:srgbClr val="F2A81D"/>
            </a:solidFill>
            <a:prstDash val="solid"/>
          </a:ln>
        </p:spPr>
      </p:sp>
      <p:sp>
        <p:nvSpPr>
          <p:cNvPr id="5" name="Shape 3"/>
          <p:cNvSpPr/>
          <p:nvPr/>
        </p:nvSpPr>
        <p:spPr>
          <a:xfrm>
            <a:off x="7269480" y="0"/>
            <a:ext cx="2734056" cy="155448"/>
          </a:xfrm>
          <a:prstGeom prst="rect">
            <a:avLst/>
          </a:prstGeom>
          <a:solidFill>
            <a:srgbClr val="E23A26"/>
          </a:solidFill>
          <a:ln w="12700">
            <a:solidFill>
              <a:srgbClr val="E23A26"/>
            </a:solidFill>
            <a:prstDash val="solid"/>
          </a:ln>
        </p:spPr>
      </p:sp>
      <p:sp>
        <p:nvSpPr>
          <p:cNvPr id="6" name="Shape 4"/>
          <p:cNvSpPr/>
          <p:nvPr/>
        </p:nvSpPr>
        <p:spPr>
          <a:xfrm>
            <a:off x="10003536" y="0"/>
            <a:ext cx="2185416" cy="155448"/>
          </a:xfrm>
          <a:prstGeom prst="rect">
            <a:avLst/>
          </a:prstGeom>
          <a:solidFill>
            <a:srgbClr val="79C3E4"/>
          </a:solidFill>
          <a:ln w="12700">
            <a:solidFill>
              <a:srgbClr val="79C3E4"/>
            </a:solidFill>
            <a:prstDash val="solid"/>
          </a:ln>
        </p:spPr>
      </p:sp>
      <p:sp>
        <p:nvSpPr>
          <p:cNvPr id="7" name="Shape 5"/>
          <p:cNvSpPr/>
          <p:nvPr/>
        </p:nvSpPr>
        <p:spPr>
          <a:xfrm>
            <a:off x="11356848" y="6053328"/>
            <a:ext cx="512064" cy="512064"/>
          </a:xfrm>
          <a:prstGeom prst="ellipse">
            <a:avLst/>
          </a:prstGeom>
          <a:solidFill>
            <a:srgbClr val="D8261C"/>
          </a:solidFill>
          <a:ln w="12700">
            <a:solidFill>
              <a:srgbClr val="D8261C"/>
            </a:solidFill>
            <a:prstDash val="solid"/>
          </a:ln>
        </p:spPr>
      </p:sp>
      <p:sp>
        <p:nvSpPr>
          <p:cNvPr id="8" name="Text 6"/>
          <p:cNvSpPr/>
          <p:nvPr/>
        </p:nvSpPr>
        <p:spPr>
          <a:xfrm>
            <a:off x="11356848" y="6053328"/>
            <a:ext cx="512064" cy="51206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Claro</a:t>
            </a:r>
            <a:endParaRPr lang="en-US" sz="900" dirty="0"/>
          </a:p>
        </p:txBody>
      </p:sp>
      <p:sp>
        <p:nvSpPr>
          <p:cNvPr id="9" name="Text 7"/>
          <p:cNvSpPr/>
          <p:nvPr/>
        </p:nvSpPr>
        <p:spPr>
          <a:xfrm>
            <a:off x="548640" y="6263640"/>
            <a:ext cx="914400" cy="274320"/>
          </a:xfrm>
          <a:prstGeom prst="rect">
            <a:avLst/>
          </a:prstGeom>
          <a:noFill/>
          <a:ln/>
        </p:spPr>
        <p:txBody>
          <a:bodyPr wrap="square" lIns="0" tIns="0" rIns="0" bIns="0" rtlCol="0" anchor="ctr"/>
          <a:lstStyle/>
          <a:p>
            <a:pPr algn="l" indent="0" marL="0">
              <a:buNone/>
            </a:pPr>
            <a:r>
              <a:rPr lang="en-US" sz="900" dirty="0">
                <a:solidFill>
                  <a:srgbClr val="6B6B6B"/>
                </a:solidFill>
                <a:latin typeface="Arial" pitchFamily="34" charset="0"/>
                <a:ea typeface="Arial" pitchFamily="34" charset="-122"/>
                <a:cs typeface="Arial" pitchFamily="34" charset="-120"/>
              </a:rPr>
              <a:t>12</a:t>
            </a:r>
            <a:endParaRPr lang="en-US" sz="900" dirty="0"/>
          </a:p>
        </p:txBody>
      </p:sp>
      <p:sp>
        <p:nvSpPr>
          <p:cNvPr id="10" name="Text 8"/>
          <p:cNvSpPr/>
          <p:nvPr/>
        </p:nvSpPr>
        <p:spPr>
          <a:xfrm>
            <a:off x="548640" y="384048"/>
            <a:ext cx="11091672" cy="457200"/>
          </a:xfrm>
          <a:prstGeom prst="rect">
            <a:avLst/>
          </a:prstGeom>
          <a:noFill/>
          <a:ln/>
        </p:spPr>
        <p:txBody>
          <a:bodyPr wrap="square" lIns="0" tIns="0" rIns="0" bIns="0" rtlCol="0" anchor="ctr"/>
          <a:lstStyle/>
          <a:p>
            <a:pPr algn="ctr" indent="0" marL="0">
              <a:buNone/>
            </a:pPr>
            <a:r>
              <a:rPr lang="en-US" sz="2400" b="1" dirty="0">
                <a:solidFill>
                  <a:srgbClr val="1A1A1A"/>
                </a:solidFill>
                <a:latin typeface="Arial" pitchFamily="34" charset="0"/>
                <a:ea typeface="Arial" pitchFamily="34" charset="-122"/>
                <a:cs typeface="Arial" pitchFamily="34" charset="-120"/>
              </a:rPr>
              <a:t>Lo que pido para avanzar</a:t>
            </a:r>
            <a:endParaRPr lang="en-US" sz="2400" dirty="0"/>
          </a:p>
        </p:txBody>
      </p:sp>
      <p:sp>
        <p:nvSpPr>
          <p:cNvPr id="11" name="Text 9"/>
          <p:cNvSpPr/>
          <p:nvPr/>
        </p:nvSpPr>
        <p:spPr>
          <a:xfrm>
            <a:off x="548640" y="932688"/>
            <a:ext cx="11091672" cy="384048"/>
          </a:xfrm>
          <a:prstGeom prst="rect">
            <a:avLst/>
          </a:prstGeom>
          <a:noFill/>
          <a:ln/>
        </p:spPr>
        <p:txBody>
          <a:bodyPr wrap="square" lIns="0" tIns="0" rIns="0" bIns="0" rtlCol="0" anchor="ctr"/>
          <a:lstStyle/>
          <a:p>
            <a:pPr algn="l" indent="0" marL="0">
              <a:buNone/>
            </a:pPr>
            <a:r>
              <a:rPr lang="en-US" sz="1250" dirty="0">
                <a:solidFill>
                  <a:srgbClr val="333333"/>
                </a:solidFill>
                <a:latin typeface="Arial" pitchFamily="34" charset="0"/>
                <a:ea typeface="Arial" pitchFamily="34" charset="-122"/>
                <a:cs typeface="Arial" pitchFamily="34" charset="-120"/>
              </a:rPr>
              <a:t>Tres definiciones concretas. Con las dos primeras arranco; la tercera destraba el módulo de cobertura.</a:t>
            </a:r>
            <a:endParaRPr lang="en-US" sz="1250" dirty="0"/>
          </a:p>
        </p:txBody>
      </p:sp>
      <p:sp>
        <p:nvSpPr>
          <p:cNvPr id="12" name="Shape 10"/>
          <p:cNvSpPr/>
          <p:nvPr/>
        </p:nvSpPr>
        <p:spPr>
          <a:xfrm>
            <a:off x="548640" y="1874520"/>
            <a:ext cx="3520440" cy="1828800"/>
          </a:xfrm>
          <a:prstGeom prst="rect">
            <a:avLst/>
          </a:prstGeom>
          <a:solidFill>
            <a:srgbClr val="FFFFFF"/>
          </a:solidFill>
          <a:ln w="12700">
            <a:solidFill>
              <a:srgbClr val="595959"/>
            </a:solidFill>
            <a:prstDash val="solid"/>
          </a:ln>
        </p:spPr>
      </p:sp>
      <p:sp>
        <p:nvSpPr>
          <p:cNvPr id="13" name="Text 11"/>
          <p:cNvSpPr/>
          <p:nvPr/>
        </p:nvSpPr>
        <p:spPr>
          <a:xfrm>
            <a:off x="749808" y="1993392"/>
            <a:ext cx="548640" cy="320040"/>
          </a:xfrm>
          <a:prstGeom prst="rect">
            <a:avLst/>
          </a:prstGeom>
          <a:noFill/>
          <a:ln/>
        </p:spPr>
        <p:txBody>
          <a:bodyPr wrap="square" lIns="0" tIns="0" rIns="0" bIns="0" rtlCol="0" anchor="ctr"/>
          <a:lstStyle/>
          <a:p>
            <a:pPr algn="l" indent="0" marL="0">
              <a:buNone/>
            </a:pPr>
            <a:r>
              <a:rPr lang="en-US" sz="1500" b="1" dirty="0">
                <a:solidFill>
                  <a:srgbClr val="1A1A1A"/>
                </a:solidFill>
                <a:latin typeface="Arial" pitchFamily="34" charset="0"/>
                <a:ea typeface="Arial" pitchFamily="34" charset="-122"/>
                <a:cs typeface="Arial" pitchFamily="34" charset="-120"/>
              </a:rPr>
              <a:t>1</a:t>
            </a:r>
            <a:endParaRPr lang="en-US" sz="1500" dirty="0"/>
          </a:p>
        </p:txBody>
      </p:sp>
      <p:sp>
        <p:nvSpPr>
          <p:cNvPr id="14" name="Text 12"/>
          <p:cNvSpPr/>
          <p:nvPr/>
        </p:nvSpPr>
        <p:spPr>
          <a:xfrm>
            <a:off x="749808" y="2340864"/>
            <a:ext cx="3118104" cy="566928"/>
          </a:xfrm>
          <a:prstGeom prst="rect">
            <a:avLst/>
          </a:prstGeom>
          <a:noFill/>
          <a:ln/>
        </p:spPr>
        <p:txBody>
          <a:bodyPr wrap="square" lIns="0" tIns="0" rIns="0" bIns="0" rtlCol="0" anchor="t"/>
          <a:lstStyle/>
          <a:p>
            <a:pPr algn="l" indent="0" marL="0">
              <a:lnSpc>
                <a:spcPct val="95000"/>
              </a:lnSpc>
              <a:buNone/>
            </a:pPr>
            <a:r>
              <a:rPr lang="en-US" sz="1250" b="1" dirty="0">
                <a:solidFill>
                  <a:srgbClr val="1A1A1A"/>
                </a:solidFill>
                <a:latin typeface="Arial" pitchFamily="34" charset="0"/>
                <a:ea typeface="Arial" pitchFamily="34" charset="-122"/>
                <a:cs typeface="Arial" pitchFamily="34" charset="-120"/>
              </a:rPr>
              <a:t>Aprobación de las fases B y C</a:t>
            </a:r>
            <a:endParaRPr lang="en-US" sz="1250" dirty="0"/>
          </a:p>
        </p:txBody>
      </p:sp>
      <p:sp>
        <p:nvSpPr>
          <p:cNvPr id="15" name="Text 13"/>
          <p:cNvSpPr/>
          <p:nvPr/>
        </p:nvSpPr>
        <p:spPr>
          <a:xfrm>
            <a:off x="749808" y="2944368"/>
            <a:ext cx="3118104" cy="685800"/>
          </a:xfrm>
          <a:prstGeom prst="rect">
            <a:avLst/>
          </a:prstGeom>
          <a:noFill/>
          <a:ln/>
        </p:spPr>
        <p:txBody>
          <a:bodyPr wrap="square" lIns="0" tIns="0" rIns="0" bIns="0" rtlCol="0" anchor="t"/>
          <a:lstStyle/>
          <a:p>
            <a:pPr algn="l" indent="0" marL="0">
              <a:lnSpc>
                <a:spcPct val="95000"/>
              </a:lnSpc>
              <a:buNone/>
            </a:pPr>
            <a:r>
              <a:rPr lang="en-US" sz="1100" dirty="0">
                <a:solidFill>
                  <a:srgbClr val="333333"/>
                </a:solidFill>
                <a:latin typeface="Arial" pitchFamily="34" charset="0"/>
                <a:ea typeface="Arial" pitchFamily="34" charset="-122"/>
                <a:cs typeface="Arial" pitchFamily="34" charset="-120"/>
              </a:rPr>
              <a:t>Módulo de cobertura con datos de prueba y conexión de consulta con la herramienta de PCI/RSI.</a:t>
            </a:r>
            <a:endParaRPr lang="en-US" sz="1100" dirty="0"/>
          </a:p>
        </p:txBody>
      </p:sp>
      <p:sp>
        <p:nvSpPr>
          <p:cNvPr id="16" name="Shape 14"/>
          <p:cNvSpPr/>
          <p:nvPr/>
        </p:nvSpPr>
        <p:spPr>
          <a:xfrm>
            <a:off x="4334256" y="1874520"/>
            <a:ext cx="3520440" cy="1828800"/>
          </a:xfrm>
          <a:prstGeom prst="rect">
            <a:avLst/>
          </a:prstGeom>
          <a:solidFill>
            <a:srgbClr val="FFFFFF"/>
          </a:solidFill>
          <a:ln w="12700">
            <a:solidFill>
              <a:srgbClr val="595959"/>
            </a:solidFill>
            <a:prstDash val="solid"/>
          </a:ln>
        </p:spPr>
      </p:sp>
      <p:sp>
        <p:nvSpPr>
          <p:cNvPr id="17" name="Text 15"/>
          <p:cNvSpPr/>
          <p:nvPr/>
        </p:nvSpPr>
        <p:spPr>
          <a:xfrm>
            <a:off x="4535424" y="1993392"/>
            <a:ext cx="548640" cy="320040"/>
          </a:xfrm>
          <a:prstGeom prst="rect">
            <a:avLst/>
          </a:prstGeom>
          <a:noFill/>
          <a:ln/>
        </p:spPr>
        <p:txBody>
          <a:bodyPr wrap="square" lIns="0" tIns="0" rIns="0" bIns="0" rtlCol="0" anchor="ctr"/>
          <a:lstStyle/>
          <a:p>
            <a:pPr algn="l" indent="0" marL="0">
              <a:buNone/>
            </a:pPr>
            <a:r>
              <a:rPr lang="en-US" sz="1500" b="1" dirty="0">
                <a:solidFill>
                  <a:srgbClr val="1A1A1A"/>
                </a:solidFill>
                <a:latin typeface="Arial" pitchFamily="34" charset="0"/>
                <a:ea typeface="Arial" pitchFamily="34" charset="-122"/>
                <a:cs typeface="Arial" pitchFamily="34" charset="-120"/>
              </a:rPr>
              <a:t>2</a:t>
            </a:r>
            <a:endParaRPr lang="en-US" sz="1500" dirty="0"/>
          </a:p>
        </p:txBody>
      </p:sp>
      <p:sp>
        <p:nvSpPr>
          <p:cNvPr id="18" name="Text 16"/>
          <p:cNvSpPr/>
          <p:nvPr/>
        </p:nvSpPr>
        <p:spPr>
          <a:xfrm>
            <a:off x="4535424" y="2340864"/>
            <a:ext cx="3118104" cy="566928"/>
          </a:xfrm>
          <a:prstGeom prst="rect">
            <a:avLst/>
          </a:prstGeom>
          <a:noFill/>
          <a:ln/>
        </p:spPr>
        <p:txBody>
          <a:bodyPr wrap="square" lIns="0" tIns="0" rIns="0" bIns="0" rtlCol="0" anchor="t"/>
          <a:lstStyle/>
          <a:p>
            <a:pPr algn="l" indent="0" marL="0">
              <a:lnSpc>
                <a:spcPct val="95000"/>
              </a:lnSpc>
              <a:buNone/>
            </a:pPr>
            <a:r>
              <a:rPr lang="en-US" sz="1250" b="1" dirty="0">
                <a:solidFill>
                  <a:srgbClr val="1A1A1A"/>
                </a:solidFill>
                <a:latin typeface="Arial" pitchFamily="34" charset="0"/>
                <a:ea typeface="Arial" pitchFamily="34" charset="-122"/>
                <a:cs typeface="Arial" pitchFamily="34" charset="-120"/>
              </a:rPr>
              <a:t>Acceso de consulta a la herramienta de PCI/RSI</a:t>
            </a:r>
            <a:endParaRPr lang="en-US" sz="1250" dirty="0"/>
          </a:p>
        </p:txBody>
      </p:sp>
      <p:sp>
        <p:nvSpPr>
          <p:cNvPr id="19" name="Text 17"/>
          <p:cNvSpPr/>
          <p:nvPr/>
        </p:nvSpPr>
        <p:spPr>
          <a:xfrm>
            <a:off x="4535424" y="2944368"/>
            <a:ext cx="3118104" cy="685800"/>
          </a:xfrm>
          <a:prstGeom prst="rect">
            <a:avLst/>
          </a:prstGeom>
          <a:noFill/>
          <a:ln/>
        </p:spPr>
        <p:txBody>
          <a:bodyPr wrap="square" lIns="0" tIns="0" rIns="0" bIns="0" rtlCol="0" anchor="t"/>
          <a:lstStyle/>
          <a:p>
            <a:pPr algn="l" indent="0" marL="0">
              <a:lnSpc>
                <a:spcPct val="95000"/>
              </a:lnSpc>
              <a:buNone/>
            </a:pPr>
            <a:r>
              <a:rPr lang="en-US" sz="1100" dirty="0">
                <a:solidFill>
                  <a:srgbClr val="333333"/>
                </a:solidFill>
                <a:latin typeface="Arial" pitchFamily="34" charset="0"/>
                <a:ea typeface="Arial" pitchFamily="34" charset="-122"/>
                <a:cs typeface="Arial" pitchFamily="34" charset="-120"/>
              </a:rPr>
              <a:t>Un punto de integración de su lado. Sin cambios en el motor que ya está en uso.</a:t>
            </a:r>
            <a:endParaRPr lang="en-US" sz="1100" dirty="0"/>
          </a:p>
        </p:txBody>
      </p:sp>
      <p:sp>
        <p:nvSpPr>
          <p:cNvPr id="20" name="Shape 18"/>
          <p:cNvSpPr/>
          <p:nvPr/>
        </p:nvSpPr>
        <p:spPr>
          <a:xfrm>
            <a:off x="8119872" y="1874520"/>
            <a:ext cx="3520440" cy="1828800"/>
          </a:xfrm>
          <a:prstGeom prst="rect">
            <a:avLst/>
          </a:prstGeom>
          <a:solidFill>
            <a:srgbClr val="FFFFFF"/>
          </a:solidFill>
          <a:ln w="12700">
            <a:solidFill>
              <a:srgbClr val="595959"/>
            </a:solidFill>
            <a:prstDash val="solid"/>
          </a:ln>
        </p:spPr>
      </p:sp>
      <p:sp>
        <p:nvSpPr>
          <p:cNvPr id="21" name="Text 19"/>
          <p:cNvSpPr/>
          <p:nvPr/>
        </p:nvSpPr>
        <p:spPr>
          <a:xfrm>
            <a:off x="8321040" y="1993392"/>
            <a:ext cx="548640" cy="320040"/>
          </a:xfrm>
          <a:prstGeom prst="rect">
            <a:avLst/>
          </a:prstGeom>
          <a:noFill/>
          <a:ln/>
        </p:spPr>
        <p:txBody>
          <a:bodyPr wrap="square" lIns="0" tIns="0" rIns="0" bIns="0" rtlCol="0" anchor="ctr"/>
          <a:lstStyle/>
          <a:p>
            <a:pPr algn="l" indent="0" marL="0">
              <a:buNone/>
            </a:pPr>
            <a:r>
              <a:rPr lang="en-US" sz="1500" b="1" dirty="0">
                <a:solidFill>
                  <a:srgbClr val="1A1A1A"/>
                </a:solidFill>
                <a:latin typeface="Arial" pitchFamily="34" charset="0"/>
                <a:ea typeface="Arial" pitchFamily="34" charset="-122"/>
                <a:cs typeface="Arial" pitchFamily="34" charset="-120"/>
              </a:rPr>
              <a:t>3</a:t>
            </a:r>
            <a:endParaRPr lang="en-US" sz="1500" dirty="0"/>
          </a:p>
        </p:txBody>
      </p:sp>
      <p:sp>
        <p:nvSpPr>
          <p:cNvPr id="22" name="Text 20"/>
          <p:cNvSpPr/>
          <p:nvPr/>
        </p:nvSpPr>
        <p:spPr>
          <a:xfrm>
            <a:off x="8321040" y="2340864"/>
            <a:ext cx="3118104" cy="566928"/>
          </a:xfrm>
          <a:prstGeom prst="rect">
            <a:avLst/>
          </a:prstGeom>
          <a:noFill/>
          <a:ln/>
        </p:spPr>
        <p:txBody>
          <a:bodyPr wrap="square" lIns="0" tIns="0" rIns="0" bIns="0" rtlCol="0" anchor="t"/>
          <a:lstStyle/>
          <a:p>
            <a:pPr algn="l" indent="0" marL="0">
              <a:lnSpc>
                <a:spcPct val="95000"/>
              </a:lnSpc>
              <a:buNone/>
            </a:pPr>
            <a:r>
              <a:rPr lang="en-US" sz="1250" b="1" dirty="0">
                <a:solidFill>
                  <a:srgbClr val="1A1A1A"/>
                </a:solidFill>
                <a:latin typeface="Arial" pitchFamily="34" charset="0"/>
                <a:ea typeface="Arial" pitchFamily="34" charset="-122"/>
                <a:cs typeface="Arial" pitchFamily="34" charset="-120"/>
              </a:rPr>
              <a:t>Una definición sobre la fuente de cobertura</a:t>
            </a:r>
            <a:endParaRPr lang="en-US" sz="1250" dirty="0"/>
          </a:p>
        </p:txBody>
      </p:sp>
      <p:sp>
        <p:nvSpPr>
          <p:cNvPr id="23" name="Text 21"/>
          <p:cNvSpPr/>
          <p:nvPr/>
        </p:nvSpPr>
        <p:spPr>
          <a:xfrm>
            <a:off x="8321040" y="2944368"/>
            <a:ext cx="3118104" cy="685800"/>
          </a:xfrm>
          <a:prstGeom prst="rect">
            <a:avLst/>
          </a:prstGeom>
          <a:noFill/>
          <a:ln/>
        </p:spPr>
        <p:txBody>
          <a:bodyPr wrap="square" lIns="0" tIns="0" rIns="0" bIns="0" rtlCol="0" anchor="t"/>
          <a:lstStyle/>
          <a:p>
            <a:pPr algn="l" indent="0" marL="0">
              <a:lnSpc>
                <a:spcPct val="95000"/>
              </a:lnSpc>
              <a:buNone/>
            </a:pPr>
            <a:r>
              <a:rPr lang="en-US" sz="1100" dirty="0">
                <a:solidFill>
                  <a:srgbClr val="333333"/>
                </a:solidFill>
                <a:latin typeface="Arial" pitchFamily="34" charset="0"/>
                <a:ea typeface="Arial" pitchFamily="34" charset="-122"/>
                <a:cs typeface="Arial" pitchFamily="34" charset="-120"/>
              </a:rPr>
              <a:t>Qué plataforma de geolocalización usamos y bajo qué licencia, para pasar de datos de prueba a datos reales.</a:t>
            </a:r>
            <a:endParaRPr lang="en-US" sz="1100" dirty="0"/>
          </a:p>
        </p:txBody>
      </p:sp>
      <p:sp>
        <p:nvSpPr>
          <p:cNvPr id="24" name="Text 22"/>
          <p:cNvSpPr/>
          <p:nvPr/>
        </p:nvSpPr>
        <p:spPr>
          <a:xfrm>
            <a:off x="548640" y="4114800"/>
            <a:ext cx="11091672" cy="365760"/>
          </a:xfrm>
          <a:prstGeom prst="rect">
            <a:avLst/>
          </a:prstGeom>
          <a:noFill/>
          <a:ln/>
        </p:spPr>
        <p:txBody>
          <a:bodyPr wrap="square" lIns="0" tIns="0" rIns="0" bIns="0" rtlCol="0" anchor="ctr"/>
          <a:lstStyle/>
          <a:p>
            <a:pPr algn="l" indent="0" marL="0">
              <a:buNone/>
            </a:pPr>
            <a:r>
              <a:rPr lang="en-US" sz="1250" b="1" dirty="0">
                <a:solidFill>
                  <a:srgbClr val="1A1A1A"/>
                </a:solidFill>
                <a:latin typeface="Arial" pitchFamily="34" charset="0"/>
                <a:ea typeface="Arial" pitchFamily="34" charset="-122"/>
                <a:cs typeface="Arial" pitchFamily="34" charset="-120"/>
              </a:rPr>
              <a:t>En esta etapa el agente diagnostica sobre celdas reales y deja registrada la evidencia de cada conclusión. No escribe nada en la red.</a:t>
            </a:r>
            <a:endParaRPr lang="en-US" sz="1250" dirty="0"/>
          </a:p>
        </p:txBody>
      </p:sp>
      <p:sp>
        <p:nvSpPr>
          <p:cNvPr id="25" name="Text 23"/>
          <p:cNvSpPr/>
          <p:nvPr/>
        </p:nvSpPr>
        <p:spPr>
          <a:xfrm>
            <a:off x="548640" y="4553712"/>
            <a:ext cx="11091672" cy="548640"/>
          </a:xfrm>
          <a:prstGeom prst="rect">
            <a:avLst/>
          </a:prstGeom>
          <a:noFill/>
          <a:ln/>
        </p:spPr>
        <p:txBody>
          <a:bodyPr wrap="square" lIns="0" tIns="0" rIns="0" bIns="0" rtlCol="0" anchor="t"/>
          <a:lstStyle/>
          <a:p>
            <a:pPr algn="l" indent="0" marL="0">
              <a:lnSpc>
                <a:spcPct val="95000"/>
              </a:lnSpc>
              <a:buNone/>
            </a:pPr>
            <a:r>
              <a:rPr lang="en-US" sz="1150" dirty="0">
                <a:solidFill>
                  <a:srgbClr val="333333"/>
                </a:solidFill>
                <a:latin typeface="Arial" pitchFamily="34" charset="0"/>
                <a:ea typeface="Arial" pitchFamily="34" charset="-122"/>
                <a:cs typeface="Arial" pitchFamily="34" charset="-120"/>
              </a:rPr>
              <a:t>El objetivo medible de la primera etapa es bajar el tiempo de diagnóstico de una celda y dejar registrado el porqué de cada conclusión, sobre un conjunto de casos que el área ya resolvió a mano.</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Agente de analisis RAN</dc:title>
  <dc:subject>PptxGenJS Presentation</dc:subject>
  <dc:creator>Planificacion y Optimizacion RAN</dc:creator>
  <cp:lastModifiedBy>Planificacion y Optimizacion RAN</cp:lastModifiedBy>
  <cp:revision>1</cp:revision>
  <dcterms:created xsi:type="dcterms:W3CDTF">2026-08-03T21:46:58Z</dcterms:created>
  <dcterms:modified xsi:type="dcterms:W3CDTF">2026-08-03T21:46:58Z</dcterms:modified>
</cp:coreProperties>
</file>